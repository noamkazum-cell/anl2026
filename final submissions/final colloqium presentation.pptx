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gRWKtc1JMXp3IktxdSqk7V+9i6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7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Good morning. This semester our project focused on the Automated Negotiating Agents Competition - ANAC 2026, which runs as part of IJCAI. We built two negotiation agents for two different leagues in the same competition, and each league posed a genuinely different research problem.</a:t>
            </a:r>
            <a:endParaRPr dirty="0"/>
          </a:p>
        </p:txBody>
      </p:sp>
      <p:sp>
        <p:nvSpPr>
          <p:cNvPr id="83" name="Google Shape;83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 brings us back to bilateral negotiation, but with a new scoring dimension: concealment. You're still rewarded for a good deal - Advantage - but also for how poorly your opponent learned your true preferences from your bids.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opponents figure out what you care about, your concealment score drops even if the deal is fine. Agent360 was built for that tradeoff.</a:t>
            </a:r>
            <a:endParaRPr dirty="0"/>
          </a:p>
        </p:txBody>
      </p:sp>
      <p:sp>
        <p:nvSpPr>
          <p:cNvPr id="107" name="Google Shape;107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120" name="Google Shape;120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Our two submissions mirror the two leagues.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Agent360 targets concealment against learning opponents. GunnerAgent targets human-paced negotiation with a message every turn.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Same stack - different strategy. Agent360 first, then GunnerAgent, then compare at the end.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What's new in 2026: every move must include a natural-language message. You're not just picking numbers - you're playing a character negotiating with a real person. Scored on deal utility and on how the human partner perceived the agent afterward.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time budget is brutal compared to agent-vs-agent leagues - about ten propose calls per side. Every round counts. That rules out classical opponent modeling that assumes long bid histories. That's the constraint GunnerAgent was designed around.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Competition flow: first an LLM round against personality-adjusted simulators, then selected agents face crowd-sourced human subjects.</a:t>
            </a:r>
            <a:endParaRPr dirty="0"/>
          </a:p>
        </p:txBody>
      </p:sp>
      <p:sp>
        <p:nvSpPr>
          <p:cNvPr id="129" name="Google Shape;129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139" name="Google Shape;139;p1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 Gunner section here. Key line: HAN is not harder math - it's math plus performance. Half the score is perception. Mention that ANL gives you opponent utility; HAN does not.</a:t>
            </a:r>
            <a:endParaRPr dirty="0"/>
          </a:p>
        </p:txBody>
      </p:sp>
      <p:sp>
        <p:nvSpPr>
          <p:cNvPr id="140" name="Google Shape;140;p1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149" name="Google Shape;149;p1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the main design decision. Emphasize: numbers first, words second. Omer's split is what makes the agent safe to run against real humans.</a:t>
            </a:r>
            <a:endParaRPr dirty="0"/>
          </a:p>
        </p:txBody>
      </p:sp>
      <p:sp>
        <p:nvSpPr>
          <p:cNvPr id="150" name="Google Shape;150;p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8" name="Google Shape;15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164" name="Google Shape;164;p2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Close Gunner section. Persona is warm and assertive - never robotic, never apologetic. LLM sees partner messages and exact offer terms only. Utilities stay hidden.</a:t>
            </a:r>
            <a:endParaRPr dirty="0"/>
          </a:p>
        </p:txBody>
      </p:sp>
      <p:sp>
        <p:nvSpPr>
          <p:cNvPr id="165" name="Google Shape;165;p2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e27d8dc32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176" name="Google Shape;176;g3ee27d8dc32_0_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 brings us back to bilateral negotiation, but with a new scoring dimension: concealment. You're still rewarded for a good deal - Advantage - but also for how poorly your opponent learned your true preferences from your bids.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opponents figure out what you care about, your concealment score drops even if the deal is fine. Agent360 was built for that tradeoff.</a:t>
            </a:r>
            <a:endParaRPr dirty="0"/>
          </a:p>
        </p:txBody>
      </p:sp>
      <p:sp>
        <p:nvSpPr>
          <p:cNvPr id="177" name="Google Shape;177;g3ee27d8dc32_0_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186" name="Google Shape;186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Let's zoom into Agent360. Remember the 2026 ANL rule from earlier: you're scored on two things at once.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Advantage is the familiar part - did you close a deal better than your walk-away value?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Concealing is what's new - after the negotiation, organizers check how well your opponent modeled your true preferences from your bids.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 Agent360 isn't a pure deal-maximizer. Every bid is both a negotiation move and a signal about your priorities.</a:t>
            </a:r>
            <a:endParaRPr dirty="0"/>
          </a:p>
        </p:txBody>
      </p:sp>
      <p:sp>
        <p:nvSpPr>
          <p:cNvPr id="187" name="Google Shape;187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196" name="Google Shape;196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does the scoring rule matter? Most league agents learn from your bid stream - frequent values look like high priorities.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Bid sincerely and Advantage may look fine, but the opponent's model converges quickly and Concealing collapses.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 we started with research: what should we show early to mislead learners without giving up the deal?</a:t>
            </a:r>
            <a:endParaRPr dirty="0"/>
          </a:p>
        </p:txBody>
      </p:sp>
      <p:sp>
        <p:nvSpPr>
          <p:cNvPr id="197" name="Google Shape;197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06" name="Google Shape;206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treated this as empirical research, not a guess. Three variants shared the same acceptance logic and opponent modeling - they differed only in what they show early.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Gradient: partially wrong priorities, gradual blend toward truth - hardest to detect, no sudden tell. Full flip: maximally wrong, then jump to a true band. Reverse: open with your actual best outcomes, then shift toward misdirection - the hypothesis that some opponents distrust bids.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benchmarked all three across competition scenarios, both seats, against learner and deceptive opponents.</a:t>
            </a:r>
            <a:endParaRPr dirty="0"/>
          </a:p>
        </p:txBody>
      </p:sp>
      <p:sp>
        <p:nvSpPr>
          <p:cNvPr id="207" name="Google Shape;207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16" name="Google Shape;216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Reverse looked good in some matchups but failed against the learner agents that dominate the field. Full flip didn't beat the middle ground reliably.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winner: a sustained false early signal with gradual revelation when deal extraction matters more. That's the core of Agent360.</a:t>
            </a:r>
            <a:endParaRPr dirty="0"/>
          </a:p>
        </p:txBody>
      </p:sp>
      <p:sp>
        <p:nvSpPr>
          <p:cNvPr id="217" name="Google Shape;217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24" name="Google Shape;224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Three separate layers - so improving deal extraction never accidentally breaks the decoy persona.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each step: partner offer → update model → accept? → else bid from current phase.</a:t>
            </a:r>
            <a:endParaRPr dirty="0"/>
          </a:p>
        </p:txBody>
      </p:sp>
      <p:sp>
        <p:nvSpPr>
          <p:cNvPr id="225" name="Google Shape;225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31" name="Google Shape;231;p2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You've now seen both agents. Same NegMAS foundation - opposite choices wherever the leagues differ.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Agent360 misleads learners with a decoy persona; GunnerAgent anchors early and sounds human while the numerical core holds firm. Both inherited from Shochan and only kept changes that helped across opponent types.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thesis: match strategy to the scoring rule and the data budget.</a:t>
            </a:r>
            <a:endParaRPr dirty="0"/>
          </a:p>
        </p:txBody>
      </p:sp>
      <p:sp>
        <p:nvSpPr>
          <p:cNvPr id="232" name="Google Shape;232;p2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38" name="Google Shape;238;p2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Five lessons. The scoring rule defines the strategy. Modeling must fit the data budget. No single benchmark tells the whole story. Separate what fails independently - persona from acceptance, numbers from language. Research, benchmark, keep or rollback.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you. Happy to take questions.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254" name="Google Shape;25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7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4400"/>
              <a:buFont typeface="Calibri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7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32777"/>
              </a:buClr>
              <a:buSzPts val="3200"/>
              <a:buNone/>
              <a:defRPr>
                <a:solidFill>
                  <a:srgbClr val="232777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" name="Google Shape;15;p2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" name="Google Shape;16;p2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8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32777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32777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32777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32777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32777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1" name="Google Shape;21;p2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p2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3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3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0" name="Google Shape;30;p2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2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1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3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6" name="Google Shape;36;p3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7" name="Google Shape;37;p3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2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232777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232777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32777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32777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32777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32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232777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232777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32777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32777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32777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2" name="Google Shape;42;p3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3" name="Google Shape;43;p3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3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232777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32777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32777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232777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232777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3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232777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32777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32777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232777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232777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9" name="Google Shape;49;p33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232777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32777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32777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232777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232777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33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232777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32777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32777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232777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232777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1" name="Google Shape;51;p3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3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3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4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32777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232777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232777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32777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32777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4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232777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232777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232777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232777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232777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3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9" name="Google Shape;59;p3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3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5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5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64" name="Google Shape;64;p35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232777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232777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232777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232777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232777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3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3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6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32777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32777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32777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32777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32777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3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3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7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32777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32777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32777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32777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32777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3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3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4400"/>
              <a:buFont typeface="Calibri"/>
              <a:buNone/>
              <a:defRPr sz="4400" b="1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6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32777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232777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232777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32777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32777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" name="Google Shape;9;p2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" name="Google Shape;10;p2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>
            <a:spLocks noGrp="1"/>
          </p:cNvSpPr>
          <p:nvPr>
            <p:ph type="ctrTitle"/>
          </p:nvPr>
        </p:nvSpPr>
        <p:spPr>
          <a:xfrm>
            <a:off x="562300" y="1298875"/>
            <a:ext cx="6382800" cy="23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7200"/>
              <a:buFont typeface="Calibri"/>
              <a:buNone/>
            </a:pPr>
            <a:r>
              <a:rPr lang="en-US" sz="7200" dirty="0"/>
              <a:t>Agents Negotiation</a:t>
            </a:r>
            <a:endParaRPr sz="7200" dirty="0"/>
          </a:p>
        </p:txBody>
      </p:sp>
      <p:sp>
        <p:nvSpPr>
          <p:cNvPr id="86" name="Google Shape;86;p1"/>
          <p:cNvSpPr txBox="1">
            <a:spLocks noGrp="1"/>
          </p:cNvSpPr>
          <p:nvPr>
            <p:ph type="subTitle" idx="1"/>
          </p:nvPr>
        </p:nvSpPr>
        <p:spPr>
          <a:xfrm>
            <a:off x="101051" y="4145973"/>
            <a:ext cx="73053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400" b="1" dirty="0">
                <a:solidFill>
                  <a:schemeClr val="dk1"/>
                </a:solidFill>
              </a:rPr>
              <a:t>Noam Kazum  ·  Omer Shani</a:t>
            </a:r>
            <a:endParaRPr sz="3400" b="1" dirty="0"/>
          </a:p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400" b="1" dirty="0">
                <a:solidFill>
                  <a:schemeClr val="dk1"/>
                </a:solidFill>
              </a:rPr>
              <a:t>Dr. Galit Haim  ·  Dr. Raz Lin</a:t>
            </a:r>
            <a:endParaRPr sz="3400" b="1" dirty="0"/>
          </a:p>
        </p:txBody>
      </p:sp>
      <p:pic>
        <p:nvPicPr>
          <p:cNvPr id="87" name="Google Shape;8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73990" y="188174"/>
            <a:ext cx="4598201" cy="6461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6000">
        <p159:morph option="byObject"/>
      </p:transition>
    </mc:Choice>
    <mc:Fallback xmlns="">
      <p:transition spd="slow" advClick="0" advTm="6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4400"/>
              <a:buFont typeface="Calibri"/>
              <a:buNone/>
            </a:pPr>
            <a:r>
              <a:rPr lang="en-US" dirty="0"/>
              <a:t>Agenda</a:t>
            </a:r>
            <a:endParaRPr dirty="0"/>
          </a:p>
        </p:txBody>
      </p:sp>
      <p:sp>
        <p:nvSpPr>
          <p:cNvPr id="94" name="Google Shape;94;p2"/>
          <p:cNvSpPr/>
          <p:nvPr/>
        </p:nvSpPr>
        <p:spPr>
          <a:xfrm>
            <a:off x="788645" y="1825566"/>
            <a:ext cx="3200400" cy="1719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2327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Related Work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4495800" y="1825567"/>
            <a:ext cx="3200400" cy="1719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2327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Competition Context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8202955" y="1825567"/>
            <a:ext cx="3200400" cy="1719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2327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GunnerAgent Deep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Dive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4495796" y="4207149"/>
            <a:ext cx="3200400" cy="17169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2327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Comparative Analysis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8202961" y="4207149"/>
            <a:ext cx="3200400" cy="17169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2327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Conclusion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788655" y="4206092"/>
            <a:ext cx="3200400" cy="1719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2327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Agent360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 Dive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4225" y="1451925"/>
            <a:ext cx="2073362" cy="1009512"/>
          </a:xfrm>
          <a:prstGeom prst="rect">
            <a:avLst/>
          </a:prstGeom>
          <a:noFill/>
          <a:ln>
            <a:noFill/>
          </a:ln>
          <a:effectLst>
            <a:outerShdw blurRad="152361" dist="18468" dir="5400000" algn="bl" rotWithShape="0">
              <a:srgbClr val="000000">
                <a:alpha val="45882"/>
              </a:srgbClr>
            </a:outerShdw>
          </a:effectLst>
        </p:spPr>
      </p:pic>
      <p:pic>
        <p:nvPicPr>
          <p:cNvPr id="101" name="Google Shape;10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4225" y="3942858"/>
            <a:ext cx="2073362" cy="1009512"/>
          </a:xfrm>
          <a:prstGeom prst="rect">
            <a:avLst/>
          </a:prstGeom>
          <a:noFill/>
          <a:ln>
            <a:noFill/>
          </a:ln>
          <a:effectLst>
            <a:outerShdw blurRad="152361" dist="18468" dir="5400000" algn="bl" rotWithShape="0">
              <a:srgbClr val="000000">
                <a:alpha val="45882"/>
              </a:srgbClr>
            </a:outerShdw>
          </a:effectLst>
        </p:spPr>
      </p:pic>
      <p:pic>
        <p:nvPicPr>
          <p:cNvPr id="102" name="Google Shape;10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7016971" y="3183149"/>
            <a:ext cx="2073362" cy="1009512"/>
          </a:xfrm>
          <a:prstGeom prst="rect">
            <a:avLst/>
          </a:prstGeom>
          <a:noFill/>
          <a:ln>
            <a:noFill/>
          </a:ln>
          <a:effectLst>
            <a:outerShdw blurRad="152361" dist="18468" dir="5400000" algn="bl" rotWithShape="0">
              <a:srgbClr val="000000">
                <a:alpha val="45882"/>
              </a:srgbClr>
            </a:outerShdw>
          </a:effectLst>
        </p:spPr>
      </p:pic>
      <p:pic>
        <p:nvPicPr>
          <p:cNvPr id="103" name="Google Shape;10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7064813" y="5626288"/>
            <a:ext cx="2073362" cy="1009512"/>
          </a:xfrm>
          <a:prstGeom prst="rect">
            <a:avLst/>
          </a:prstGeom>
          <a:noFill/>
          <a:ln>
            <a:noFill/>
          </a:ln>
          <a:effectLst>
            <a:outerShdw blurRad="152361" dist="18468" dir="5400000" algn="bl" rotWithShape="0">
              <a:srgbClr val="000000">
                <a:alpha val="45882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6000">
        <p159:morph option="byObject"/>
      </p:transition>
    </mc:Choice>
    <mc:Fallback xmlns="">
      <p:transition spd="slow" advClick="0" advTm="6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4400"/>
              <a:buFont typeface="Calibri"/>
              <a:buNone/>
            </a:pPr>
            <a:r>
              <a:rPr lang="en-US" dirty="0"/>
              <a:t>Related Work</a:t>
            </a:r>
            <a:endParaRPr dirty="0"/>
          </a:p>
        </p:txBody>
      </p:sp>
      <p:sp>
        <p:nvSpPr>
          <p:cNvPr id="110" name="Google Shape;110;p5"/>
          <p:cNvSpPr/>
          <p:nvPr/>
        </p:nvSpPr>
        <p:spPr>
          <a:xfrm>
            <a:off x="1585732" y="1528971"/>
            <a:ext cx="4144508" cy="2286000"/>
          </a:xfrm>
          <a:prstGeom prst="roundRect">
            <a:avLst>
              <a:gd name="adj" fmla="val 16667"/>
            </a:avLst>
          </a:prstGeom>
          <a:solidFill>
            <a:srgbClr val="CACCD9">
              <a:alpha val="40000"/>
            </a:srgbClr>
          </a:solidFill>
          <a:ln w="9525" cap="flat" cmpd="sng">
            <a:solidFill>
              <a:srgbClr val="9098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Theoretical Learning</a:t>
            </a:r>
            <a:endParaRPr sz="2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6317380" y="1528971"/>
            <a:ext cx="4288887" cy="2286000"/>
          </a:xfrm>
          <a:prstGeom prst="roundRect">
            <a:avLst>
              <a:gd name="adj" fmla="val 16667"/>
            </a:avLst>
          </a:prstGeom>
          <a:solidFill>
            <a:srgbClr val="CACCD9">
              <a:alpha val="40000"/>
            </a:srgbClr>
          </a:solidFill>
          <a:ln w="9525" cap="flat" cmpd="sng">
            <a:solidFill>
              <a:srgbClr val="9098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Analyzing Past Winners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1585732" y="4186029"/>
            <a:ext cx="4144508" cy="2286000"/>
          </a:xfrm>
          <a:prstGeom prst="roundRect">
            <a:avLst>
              <a:gd name="adj" fmla="val 16667"/>
            </a:avLst>
          </a:prstGeom>
          <a:solidFill>
            <a:srgbClr val="CACCD9">
              <a:alpha val="40000"/>
            </a:srgbClr>
          </a:solidFill>
          <a:ln w="9525" cap="flat" cmpd="sng">
            <a:solidFill>
              <a:srgbClr val="9098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Running Tournaments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6317381" y="4186029"/>
            <a:ext cx="4288886" cy="2286000"/>
          </a:xfrm>
          <a:prstGeom prst="roundRect">
            <a:avLst>
              <a:gd name="adj" fmla="val 16667"/>
            </a:avLst>
          </a:prstGeom>
          <a:solidFill>
            <a:srgbClr val="CACCD9">
              <a:alpha val="40000"/>
            </a:srgbClr>
          </a:solidFill>
          <a:ln w="9525" cap="flat" cmpd="sng">
            <a:solidFill>
              <a:srgbClr val="9098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Conducting Experiments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5497" y="5714466"/>
            <a:ext cx="904744" cy="92099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</p:pic>
      <p:pic>
        <p:nvPicPr>
          <p:cNvPr id="115" name="Google Shape;115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74200" y="5813120"/>
            <a:ext cx="904745" cy="92099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</p:pic>
      <p:pic>
        <p:nvPicPr>
          <p:cNvPr id="116" name="Google Shape;116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74200" y="2968509"/>
            <a:ext cx="904745" cy="92099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</p:pic>
      <p:pic>
        <p:nvPicPr>
          <p:cNvPr id="117" name="Google Shape;117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155494" y="2968509"/>
            <a:ext cx="904744" cy="92099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6000">
        <p159:morph option="byObject"/>
      </p:transition>
    </mc:Choice>
    <mc:Fallback xmlns="">
      <p:transition spd="slow" advClick="0" advTm="6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>
            <a:spLocks noGrp="1"/>
          </p:cNvSpPr>
          <p:nvPr>
            <p:ph type="title"/>
          </p:nvPr>
        </p:nvSpPr>
        <p:spPr>
          <a:xfrm>
            <a:off x="1981200" y="274638"/>
            <a:ext cx="8229600" cy="1392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4400"/>
              <a:buFont typeface="Calibri"/>
              <a:buNone/>
            </a:pPr>
            <a:r>
              <a:rPr lang="en-US" dirty="0"/>
              <a:t>Two Agents, </a:t>
            </a:r>
            <a:br>
              <a:rPr lang="en-US" dirty="0"/>
            </a:br>
            <a:r>
              <a:rPr lang="en-US" dirty="0"/>
              <a:t>Two Challenges</a:t>
            </a:r>
            <a:endParaRPr dirty="0"/>
          </a:p>
        </p:txBody>
      </p:sp>
      <p:sp>
        <p:nvSpPr>
          <p:cNvPr id="124" name="Google Shape;124;p8"/>
          <p:cNvSpPr/>
          <p:nvPr/>
        </p:nvSpPr>
        <p:spPr>
          <a:xfrm>
            <a:off x="2074142" y="2185150"/>
            <a:ext cx="3657600" cy="40233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2327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000"/>
              <a:buFont typeface="Arial"/>
              <a:buNone/>
            </a:pPr>
            <a:r>
              <a:rPr lang="en-US" sz="2200" b="1" i="0" u="none" strike="noStrike" cap="none" dirty="0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rPr>
              <a:t>Agent360 for ANL: </a:t>
            </a:r>
            <a:endParaRPr sz="2200" b="1" i="0" u="none" strike="noStrike" cap="none" dirty="0">
              <a:solidFill>
                <a:srgbClr val="2327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000"/>
              <a:buFont typeface="Arial"/>
              <a:buNone/>
            </a:pPr>
            <a:endParaRPr sz="2200" b="1" i="0" u="none" strike="noStrike" cap="none" dirty="0">
              <a:solidFill>
                <a:srgbClr val="2327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0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Capture a good deal 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0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Hide preferences 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0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opponents’ preferences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6460258" y="2185150"/>
            <a:ext cx="3657600" cy="40233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2327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000"/>
              <a:buFont typeface="Arial"/>
              <a:buNone/>
            </a:pPr>
            <a:r>
              <a:rPr lang="en-US" sz="2200" b="1" i="0" u="none" strike="noStrike" cap="none" dirty="0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rPr>
              <a:t>GunnerAgent for HAN: </a:t>
            </a:r>
            <a:endParaRPr sz="2200" b="1" i="0" u="none" strike="noStrike" cap="none" dirty="0">
              <a:solidFill>
                <a:srgbClr val="2327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000"/>
              <a:buFont typeface="Arial"/>
              <a:buNone/>
            </a:pPr>
            <a:endParaRPr sz="2200" b="1" i="0" u="none" strike="noStrike" cap="none" dirty="0">
              <a:solidFill>
                <a:srgbClr val="2327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Simulate human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Involving LLM - Natural language messages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6000">
        <p159:morph option="byObject"/>
      </p:transition>
    </mc:Choice>
    <mc:Fallback xmlns="">
      <p:transition spd="slow" advClick="0" advTm="6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4400"/>
              <a:buFont typeface="Calibri"/>
              <a:buNone/>
            </a:pPr>
            <a:r>
              <a:rPr lang="en-US" dirty="0"/>
              <a:t>HAN</a:t>
            </a:r>
            <a:r>
              <a:rPr lang="en-US" sz="4400" b="1" dirty="0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rPr>
              <a:t> 2026</a:t>
            </a:r>
            <a:endParaRPr dirty="0"/>
          </a:p>
        </p:txBody>
      </p:sp>
      <p:sp>
        <p:nvSpPr>
          <p:cNvPr id="132" name="Google Shape;132;p7"/>
          <p:cNvSpPr/>
          <p:nvPr/>
        </p:nvSpPr>
        <p:spPr>
          <a:xfrm>
            <a:off x="1562582" y="1528971"/>
            <a:ext cx="4167600" cy="2286000"/>
          </a:xfrm>
          <a:prstGeom prst="roundRect">
            <a:avLst>
              <a:gd name="adj" fmla="val 16667"/>
            </a:avLst>
          </a:prstGeom>
          <a:solidFill>
            <a:srgbClr val="CACCD9">
              <a:alpha val="40000"/>
            </a:srgbClr>
          </a:solidFill>
          <a:ln w="9525" cap="flat" cmpd="sng">
            <a:solidFill>
              <a:srgbClr val="9098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rPr>
              <a:t>Negotiation Pillar:</a:t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move = offer + required free-text message to a human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6457131" y="1528971"/>
            <a:ext cx="4311900" cy="2286000"/>
          </a:xfrm>
          <a:prstGeom prst="roundRect">
            <a:avLst>
              <a:gd name="adj" fmla="val 16667"/>
            </a:avLst>
          </a:prstGeom>
          <a:solidFill>
            <a:srgbClr val="CACCD9">
              <a:alpha val="40000"/>
            </a:srgbClr>
          </a:solidFill>
          <a:ln w="9525" cap="flat" cmpd="sng">
            <a:solidFill>
              <a:srgbClr val="9098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rPr>
              <a:t>Scoring Pillar: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Scored on utility and post-negotiation perception (questionnaires)</a:t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1562582" y="4186029"/>
            <a:ext cx="4167600" cy="2286000"/>
          </a:xfrm>
          <a:prstGeom prst="roundRect">
            <a:avLst>
              <a:gd name="adj" fmla="val 16667"/>
            </a:avLst>
          </a:prstGeom>
          <a:solidFill>
            <a:srgbClr val="CACCD9">
              <a:alpha val="40000"/>
            </a:srgbClr>
          </a:solidFill>
          <a:ln w="9525" cap="flat" cmpd="sng">
            <a:solidFill>
              <a:srgbClr val="9098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rPr>
              <a:t>Offers Challenge: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~5 min ≈ ~10 offers per side - human-paced</a:t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6457055" y="4186029"/>
            <a:ext cx="4311900" cy="2286000"/>
          </a:xfrm>
          <a:prstGeom prst="roundRect">
            <a:avLst>
              <a:gd name="adj" fmla="val 16667"/>
            </a:avLst>
          </a:prstGeom>
          <a:solidFill>
            <a:srgbClr val="CACCD9">
              <a:alpha val="40000"/>
            </a:srgbClr>
          </a:solidFill>
          <a:ln w="9525" cap="flat" cmpd="sng">
            <a:solidFill>
              <a:srgbClr val="9098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rPr>
              <a:t>Competition Flow: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qualifying round → crowd-sourced humans → finalists</a:t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3644" y="3140488"/>
            <a:ext cx="1720025" cy="172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6000">
        <p159:morph option="byObject"/>
      </p:transition>
    </mc:Choice>
    <mc:Fallback xmlns="">
      <p:transition spd="slow" advClick="0" advTm="6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4400"/>
              <a:buFont typeface="Calibri"/>
              <a:buNone/>
            </a:pPr>
            <a:r>
              <a:rPr lang="en-US" dirty="0"/>
              <a:t>GunnerAgent: Pretending to be a Human</a:t>
            </a:r>
            <a:endParaRPr dirty="0"/>
          </a:p>
        </p:txBody>
      </p:sp>
      <p:sp>
        <p:nvSpPr>
          <p:cNvPr id="143" name="Google Shape;143;p18"/>
          <p:cNvSpPr/>
          <p:nvPr/>
        </p:nvSpPr>
        <p:spPr>
          <a:xfrm>
            <a:off x="609600" y="2795959"/>
            <a:ext cx="3099583" cy="3657600"/>
          </a:xfrm>
          <a:prstGeom prst="roundRect">
            <a:avLst>
              <a:gd name="adj" fmla="val 16667"/>
            </a:avLst>
          </a:prstGeom>
          <a:solidFill>
            <a:srgbClr val="CACCD9">
              <a:alpha val="40000"/>
            </a:srgbClr>
          </a:solidFill>
          <a:ln w="9525" cap="flat" cmpd="sng">
            <a:solidFill>
              <a:srgbClr val="9098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rPr>
              <a:t>Negotiation flow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 humans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AOP - Every turn you send an offer AND generate a short message</a:t>
            </a:r>
            <a:endParaRPr dirty="0"/>
          </a:p>
        </p:txBody>
      </p:sp>
      <p:sp>
        <p:nvSpPr>
          <p:cNvPr id="144" name="Google Shape;144;p18"/>
          <p:cNvSpPr/>
          <p:nvPr/>
        </p:nvSpPr>
        <p:spPr>
          <a:xfrm>
            <a:off x="4546092" y="2795959"/>
            <a:ext cx="3099816" cy="3657600"/>
          </a:xfrm>
          <a:prstGeom prst="roundRect">
            <a:avLst>
              <a:gd name="adj" fmla="val 16667"/>
            </a:avLst>
          </a:prstGeom>
          <a:solidFill>
            <a:srgbClr val="CACCD9">
              <a:alpha val="40000"/>
            </a:srgbClr>
          </a:solidFill>
          <a:ln w="9525" cap="flat" cmpd="sng">
            <a:solidFill>
              <a:srgbClr val="9098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rPr>
              <a:t>Evaluation: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Utility profit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 survey</a:t>
            </a:r>
            <a:endParaRPr dirty="0"/>
          </a:p>
          <a:p>
            <a:pPr marL="342900" marR="0" lvl="0" indent="-215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8482584" y="2795959"/>
            <a:ext cx="3099816" cy="3657600"/>
          </a:xfrm>
          <a:prstGeom prst="roundRect">
            <a:avLst>
              <a:gd name="adj" fmla="val 16667"/>
            </a:avLst>
          </a:prstGeom>
          <a:solidFill>
            <a:srgbClr val="CACCD9">
              <a:alpha val="40000"/>
            </a:srgbClr>
          </a:solidFill>
          <a:ln w="9525" cap="flat" cmpd="sng">
            <a:solidFill>
              <a:srgbClr val="9098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rPr>
              <a:t>Challenges: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~10 offers per side (5-minute clock).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Partner utility function is unknown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 behavior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875596" y="1417638"/>
            <a:ext cx="10440808" cy="1143000"/>
          </a:xfrm>
          <a:prstGeom prst="roundRect">
            <a:avLst>
              <a:gd name="adj" fmla="val 16667"/>
            </a:avLst>
          </a:prstGeom>
          <a:solidFill>
            <a:srgbClr val="FCE5CD">
              <a:alpha val="37254"/>
            </a:srgbClr>
          </a:solidFill>
          <a:ln w="9525" cap="flat" cmpd="sng">
            <a:solidFill>
              <a:srgbClr val="9098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22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simulate a human by both Strategy and Communication 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6000">
        <p159:morph option="byObject"/>
      </p:transition>
    </mc:Choice>
    <mc:Fallback xmlns="">
      <p:transition spd="slow" advClick="0" advTm="6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4400"/>
              <a:buFont typeface="Calibri"/>
              <a:buNone/>
            </a:pPr>
            <a:r>
              <a:rPr lang="en-US" sz="4400" b="1" dirty="0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rPr>
              <a:t>GunnerAgent: Two Layers (Core + LLM)</a:t>
            </a:r>
            <a:endParaRPr dirty="0"/>
          </a:p>
        </p:txBody>
      </p:sp>
      <p:sp>
        <p:nvSpPr>
          <p:cNvPr id="153" name="Google Shape;153;p19"/>
          <p:cNvSpPr/>
          <p:nvPr/>
        </p:nvSpPr>
        <p:spPr>
          <a:xfrm>
            <a:off x="481263" y="1529881"/>
            <a:ext cx="6934790" cy="2304000"/>
          </a:xfrm>
          <a:prstGeom prst="roundRect">
            <a:avLst>
              <a:gd name="adj" fmla="val 16667"/>
            </a:avLst>
          </a:prstGeom>
          <a:solidFill>
            <a:srgbClr val="C5D8F1">
              <a:alpha val="60000"/>
            </a:srgbClr>
          </a:solidFill>
          <a:ln w="9525" cap="flat" cmpd="sng">
            <a:solidFill>
              <a:srgbClr val="9098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210"/>
              <a:buFont typeface="Arial"/>
              <a:buNone/>
            </a:pPr>
            <a:r>
              <a:rPr lang="en-US" sz="2210" b="1" i="0" u="none" strike="noStrike" cap="none" dirty="0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rPr>
              <a:t>Layer 1 - GunnerCore</a:t>
            </a:r>
            <a:endParaRPr sz="2210" b="1" i="0" u="none" strike="noStrike" cap="none" dirty="0">
              <a:solidFill>
                <a:srgbClr val="2327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21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None/>
            </a:pP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Decides everything about the deal</a:t>
            </a:r>
            <a:endParaRPr dirty="0"/>
          </a:p>
          <a:p>
            <a:pPr marL="0" marR="0" lvl="0" indent="0" algn="ctr" rtl="0">
              <a:lnSpc>
                <a:spcPct val="8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None/>
            </a:pP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Modeling Opponent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None/>
            </a:pP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Built on Shochan (ANAC 2024 winner)</a:t>
            </a:r>
            <a:endParaRPr dirty="0"/>
          </a:p>
        </p:txBody>
      </p:sp>
      <p:sp>
        <p:nvSpPr>
          <p:cNvPr id="154" name="Google Shape;154;p19"/>
          <p:cNvSpPr/>
          <p:nvPr/>
        </p:nvSpPr>
        <p:spPr>
          <a:xfrm>
            <a:off x="481263" y="3955983"/>
            <a:ext cx="6934790" cy="2304000"/>
          </a:xfrm>
          <a:prstGeom prst="roundRect">
            <a:avLst>
              <a:gd name="adj" fmla="val 16667"/>
            </a:avLst>
          </a:prstGeom>
          <a:solidFill>
            <a:srgbClr val="C5D8F1">
              <a:alpha val="60000"/>
            </a:srgbClr>
          </a:solidFill>
          <a:ln w="9525" cap="flat" cmpd="sng">
            <a:solidFill>
              <a:srgbClr val="9098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rPr>
              <a:t>Layer 2 - LLM wrapper (messages only)</a:t>
            </a:r>
            <a:endParaRPr dirty="0"/>
          </a:p>
          <a:p>
            <a:pPr marL="0" marR="0" lvl="0" indent="0" algn="ctr" rtl="0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21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LLM writes 2-3 sentences the human reads</a:t>
            </a:r>
            <a:endParaRPr dirty="0"/>
          </a:p>
          <a:p>
            <a:pPr marL="0" marR="0" lvl="0" indent="0" algn="ctr" rtl="0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21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It never change the result</a:t>
            </a:r>
            <a:endParaRPr dirty="0"/>
          </a:p>
          <a:p>
            <a:pPr marL="0" marR="0" lvl="0" indent="0" algn="ctr" rtl="0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8348592" y="2127183"/>
            <a:ext cx="2592000" cy="3657600"/>
          </a:xfrm>
          <a:prstGeom prst="roundRect">
            <a:avLst>
              <a:gd name="adj" fmla="val 16667"/>
            </a:avLst>
          </a:prstGeom>
          <a:solidFill>
            <a:srgbClr val="CACCD9">
              <a:alpha val="40000"/>
            </a:srgbClr>
          </a:solidFill>
          <a:ln w="9525" cap="flat" cmpd="sng">
            <a:solidFill>
              <a:srgbClr val="9098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rPr>
              <a:t>Why split them?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a language-model glitch can never cause a bad offer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Strategy stays deterministic and testable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6000">
        <p159:morph option="byObject"/>
      </p:transition>
    </mc:Choice>
    <mc:Fallback xmlns="">
      <p:transition spd="slow" advClick="0" advTm="6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1800"/>
              <a:buNone/>
            </a:pPr>
            <a:r>
              <a:rPr lang="en-US" dirty="0"/>
              <a:t>Gunner Core </a:t>
            </a:r>
            <a:endParaRPr dirty="0"/>
          </a:p>
        </p:txBody>
      </p:sp>
      <p:sp>
        <p:nvSpPr>
          <p:cNvPr id="161" name="Google Shape;161;p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363200" cy="4215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32777"/>
              </a:buClr>
              <a:buSzPct val="60811"/>
              <a:buChar char="•"/>
            </a:pPr>
            <a:r>
              <a:rPr lang="en-US" dirty="0"/>
              <a:t>Based on Sochan (ANL 2024 Winner)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32777"/>
              </a:buClr>
              <a:buSzPct val="60811"/>
              <a:buChar char="•"/>
            </a:pPr>
            <a:r>
              <a:rPr lang="en-US" dirty="0"/>
              <a:t>Short negotiation (10 steps each)</a:t>
            </a:r>
            <a:endParaRPr dirty="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9498"/>
              <a:buChar char="–"/>
            </a:pPr>
            <a:r>
              <a:rPr lang="en-US" dirty="0"/>
              <a:t>Opponent modeling</a:t>
            </a:r>
            <a:endParaRPr dirty="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9498"/>
              <a:buChar char="–"/>
            </a:pPr>
            <a:r>
              <a:rPr lang="en-US" dirty="0"/>
              <a:t>Minimum steps to agreement</a:t>
            </a:r>
            <a:endParaRPr dirty="0"/>
          </a:p>
          <a:p>
            <a:pPr marL="571500" lvl="1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9498"/>
              <a:buNone/>
            </a:pP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32777"/>
              </a:buClr>
              <a:buSzPct val="60811"/>
              <a:buChar char="•"/>
            </a:pPr>
            <a:r>
              <a:rPr lang="en-US" dirty="0"/>
              <a:t>Human simulation</a:t>
            </a:r>
            <a:endParaRPr dirty="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9498"/>
              <a:buChar char="–"/>
            </a:pPr>
            <a:r>
              <a:rPr lang="en-US" dirty="0"/>
              <a:t>Doesn't repeat the same offer more then 3 times</a:t>
            </a:r>
            <a:endParaRPr dirty="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9498"/>
              <a:buChar char="–"/>
            </a:pPr>
            <a:r>
              <a:rPr lang="en-US" dirty="0"/>
              <a:t>Two phase concession curve</a:t>
            </a:r>
            <a:endParaRPr dirty="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9498"/>
              <a:buChar char="–"/>
            </a:pPr>
            <a:r>
              <a:rPr lang="en-US" dirty="0"/>
              <a:t>Pareto frontier</a:t>
            </a:r>
            <a:endParaRPr dirty="0"/>
          </a:p>
          <a:p>
            <a:pPr marL="571500" lvl="1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9498"/>
              <a:buNone/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6000">
        <p159:morph option="byObject"/>
      </p:transition>
    </mc:Choice>
    <mc:Fallback xmlns="">
      <p:transition spd="slow" advClick="0" advTm="6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>
            <a:spLocks noGrp="1"/>
          </p:cNvSpPr>
          <p:nvPr>
            <p:ph type="title"/>
          </p:nvPr>
        </p:nvSpPr>
        <p:spPr>
          <a:xfrm>
            <a:off x="1590675" y="168199"/>
            <a:ext cx="9010650" cy="1392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4400"/>
              <a:buFont typeface="Calibri"/>
              <a:buNone/>
            </a:pPr>
            <a:r>
              <a:rPr lang="en-US" dirty="0"/>
              <a:t>LLM Layer</a:t>
            </a:r>
            <a:endParaRPr dirty="0"/>
          </a:p>
        </p:txBody>
      </p:sp>
      <p:sp>
        <p:nvSpPr>
          <p:cNvPr id="168" name="Google Shape;168;p22"/>
          <p:cNvSpPr/>
          <p:nvPr/>
        </p:nvSpPr>
        <p:spPr>
          <a:xfrm>
            <a:off x="845872" y="2545732"/>
            <a:ext cx="3240000" cy="3223473"/>
          </a:xfrm>
          <a:prstGeom prst="roundRect">
            <a:avLst>
              <a:gd name="adj" fmla="val 0"/>
            </a:avLst>
          </a:prstGeom>
          <a:solidFill>
            <a:srgbClr val="CFD7E7">
              <a:alpha val="40000"/>
            </a:srgbClr>
          </a:solidFill>
          <a:ln w="9525" cap="flat" cmpd="sng">
            <a:solidFill>
              <a:srgbClr val="9098BA">
                <a:alpha val="9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34675" tIns="234675" rIns="312925" bIns="352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Injecting dynamic data: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Rules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Move brief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Partner last action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Offers history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Opponent behavior 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 behavior 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offer</a:t>
            </a:r>
            <a:endParaRPr dirty="0"/>
          </a:p>
        </p:txBody>
      </p:sp>
      <p:sp>
        <p:nvSpPr>
          <p:cNvPr id="169" name="Google Shape;169;p22"/>
          <p:cNvSpPr/>
          <p:nvPr/>
        </p:nvSpPr>
        <p:spPr>
          <a:xfrm>
            <a:off x="4489132" y="2545732"/>
            <a:ext cx="3240000" cy="3223473"/>
          </a:xfrm>
          <a:prstGeom prst="roundRect">
            <a:avLst>
              <a:gd name="adj" fmla="val 0"/>
            </a:avLst>
          </a:prstGeom>
          <a:solidFill>
            <a:srgbClr val="CFD7E7">
              <a:alpha val="40000"/>
            </a:srgbClr>
          </a:solidFill>
          <a:ln w="9525" cap="flat" cmpd="sng">
            <a:solidFill>
              <a:srgbClr val="9098BA">
                <a:alpha val="9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34675" tIns="234675" rIns="312925" bIns="352025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Label agent action (opening, small concession…)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Label partner action (conceded, stuck, worsened…)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Tone fit to the scenario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2"/>
          <p:cNvSpPr/>
          <p:nvPr/>
        </p:nvSpPr>
        <p:spPr>
          <a:xfrm>
            <a:off x="8132392" y="2545732"/>
            <a:ext cx="3240000" cy="3223473"/>
          </a:xfrm>
          <a:prstGeom prst="roundRect">
            <a:avLst>
              <a:gd name="adj" fmla="val 0"/>
            </a:avLst>
          </a:prstGeom>
          <a:solidFill>
            <a:srgbClr val="CFD7E7">
              <a:alpha val="40000"/>
            </a:srgbClr>
          </a:solidFill>
          <a:ln w="9525" cap="flat" cmpd="sng">
            <a:solidFill>
              <a:srgbClr val="9098BA">
                <a:alpha val="9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34675" tIns="234675" rIns="312925" bIns="352025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Stability 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Wide Control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Maintenance</a:t>
            </a:r>
            <a:endParaRPr dirty="0"/>
          </a:p>
        </p:txBody>
      </p:sp>
      <p:sp>
        <p:nvSpPr>
          <p:cNvPr id="171" name="Google Shape;171;p22"/>
          <p:cNvSpPr/>
          <p:nvPr/>
        </p:nvSpPr>
        <p:spPr>
          <a:xfrm>
            <a:off x="845872" y="1647041"/>
            <a:ext cx="3240000" cy="936000"/>
          </a:xfrm>
          <a:prstGeom prst="roundRect">
            <a:avLst>
              <a:gd name="adj" fmla="val 0"/>
            </a:avLst>
          </a:prstGeom>
          <a:solidFill>
            <a:srgbClr val="C5D8F1"/>
          </a:solidFill>
          <a:ln w="9525" cap="flat" cmpd="sng">
            <a:solidFill>
              <a:srgbClr val="23277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Data</a:t>
            </a:r>
            <a:endParaRPr sz="2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4489132" y="1647041"/>
            <a:ext cx="3240000" cy="936000"/>
          </a:xfrm>
          <a:prstGeom prst="roundRect">
            <a:avLst>
              <a:gd name="adj" fmla="val 0"/>
            </a:avLst>
          </a:prstGeom>
          <a:solidFill>
            <a:srgbClr val="C5D8F1"/>
          </a:solidFill>
          <a:ln w="9525" cap="flat" cmpd="sng">
            <a:solidFill>
              <a:srgbClr val="23277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Scenario Response </a:t>
            </a:r>
            <a:endParaRPr sz="2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8132392" y="1647041"/>
            <a:ext cx="3240000" cy="936000"/>
          </a:xfrm>
          <a:prstGeom prst="roundRect">
            <a:avLst>
              <a:gd name="adj" fmla="val 0"/>
            </a:avLst>
          </a:prstGeom>
          <a:solidFill>
            <a:srgbClr val="C5D8F1"/>
          </a:solidFill>
          <a:ln w="9525" cap="flat" cmpd="sng">
            <a:solidFill>
              <a:srgbClr val="23277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Modular prompts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6000">
        <p159:morph option="byObject"/>
      </p:transition>
    </mc:Choice>
    <mc:Fallback xmlns="">
      <p:transition spd="slow" advClick="0" advTm="6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e27d8dc32_0_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4400"/>
              <a:buFont typeface="Calibri"/>
              <a:buNone/>
            </a:pPr>
            <a:r>
              <a:rPr lang="en-US" sz="4400" b="1" dirty="0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rPr>
              <a:t>ANL 2026</a:t>
            </a:r>
            <a:endParaRPr dirty="0"/>
          </a:p>
        </p:txBody>
      </p:sp>
      <p:sp>
        <p:nvSpPr>
          <p:cNvPr id="180" name="Google Shape;180;g3ee27d8dc32_0_3"/>
          <p:cNvSpPr/>
          <p:nvPr/>
        </p:nvSpPr>
        <p:spPr>
          <a:xfrm>
            <a:off x="1585732" y="1528971"/>
            <a:ext cx="4144500" cy="2286000"/>
          </a:xfrm>
          <a:prstGeom prst="roundRect">
            <a:avLst>
              <a:gd name="adj" fmla="val 16667"/>
            </a:avLst>
          </a:prstGeom>
          <a:solidFill>
            <a:srgbClr val="CACCD9">
              <a:alpha val="40000"/>
            </a:srgbClr>
          </a:solidFill>
          <a:ln w="9525" cap="flat" cmpd="sng">
            <a:solidFill>
              <a:srgbClr val="9098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rPr>
              <a:t>Negotiation Pillar:</a:t>
            </a:r>
            <a:br>
              <a:rPr lang="en-US" sz="2400" b="0" i="0" u="none" strike="noStrike" cap="none" dirty="0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Bilateral agent vs agent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ee27d8dc32_0_3"/>
          <p:cNvSpPr/>
          <p:nvPr/>
        </p:nvSpPr>
        <p:spPr>
          <a:xfrm>
            <a:off x="6317380" y="1528971"/>
            <a:ext cx="4288800" cy="2286000"/>
          </a:xfrm>
          <a:prstGeom prst="roundRect">
            <a:avLst>
              <a:gd name="adj" fmla="val 16667"/>
            </a:avLst>
          </a:prstGeom>
          <a:solidFill>
            <a:srgbClr val="CACCD9">
              <a:alpha val="40000"/>
            </a:srgbClr>
          </a:solidFill>
          <a:ln w="9525" cap="flat" cmpd="sng">
            <a:solidFill>
              <a:srgbClr val="9098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rPr>
              <a:t>Concealing Pillar: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poorly the opponent learned your true preferences from your bids</a:t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ee27d8dc32_0_3"/>
          <p:cNvSpPr/>
          <p:nvPr/>
        </p:nvSpPr>
        <p:spPr>
          <a:xfrm>
            <a:off x="1585732" y="4186029"/>
            <a:ext cx="4144500" cy="2286000"/>
          </a:xfrm>
          <a:prstGeom prst="roundRect">
            <a:avLst>
              <a:gd name="adj" fmla="val 16667"/>
            </a:avLst>
          </a:prstGeom>
          <a:solidFill>
            <a:srgbClr val="CACCD9">
              <a:alpha val="40000"/>
            </a:srgbClr>
          </a:solidFill>
          <a:ln w="9525" cap="flat" cmpd="sng">
            <a:solidFill>
              <a:srgbClr val="9098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rPr>
              <a:t>Hybrid Challenge: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Score = Advantage + Concealing</a:t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ee27d8dc32_0_3"/>
          <p:cNvSpPr/>
          <p:nvPr/>
        </p:nvSpPr>
        <p:spPr>
          <a:xfrm>
            <a:off x="6317381" y="4186029"/>
            <a:ext cx="4288800" cy="2286000"/>
          </a:xfrm>
          <a:prstGeom prst="roundRect">
            <a:avLst>
              <a:gd name="adj" fmla="val 16667"/>
            </a:avLst>
          </a:prstGeom>
          <a:solidFill>
            <a:srgbClr val="CACCD9">
              <a:alpha val="40000"/>
            </a:srgbClr>
          </a:solidFill>
          <a:ln w="9525" cap="flat" cmpd="sng">
            <a:solidFill>
              <a:srgbClr val="9098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600"/>
              <a:buFont typeface="Arial"/>
              <a:buNone/>
            </a:pPr>
            <a:r>
              <a:rPr lang="en-US" sz="2600" b="1" i="0" u="none" strike="noStrike" cap="none" dirty="0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rPr>
              <a:t>Strategic Impact: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Being modeled correctly hurts your score</a:t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6000">
        <p159:morph option="byObject"/>
      </p:transition>
    </mc:Choice>
    <mc:Fallback xmlns="">
      <p:transition spd="slow" advClick="0" advTm="6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4400"/>
              <a:buFont typeface="Calibri"/>
              <a:buNone/>
            </a:pPr>
            <a:r>
              <a:rPr lang="en-US" dirty="0"/>
              <a:t>Agent360: Two Goals at Once</a:t>
            </a:r>
            <a:endParaRPr dirty="0"/>
          </a:p>
        </p:txBody>
      </p:sp>
      <p:sp>
        <p:nvSpPr>
          <p:cNvPr id="190" name="Google Shape;190;p10"/>
          <p:cNvSpPr/>
          <p:nvPr/>
        </p:nvSpPr>
        <p:spPr>
          <a:xfrm>
            <a:off x="8107630" y="2855038"/>
            <a:ext cx="2523600" cy="3657600"/>
          </a:xfrm>
          <a:prstGeom prst="roundRect">
            <a:avLst>
              <a:gd name="adj" fmla="val 16667"/>
            </a:avLst>
          </a:prstGeom>
          <a:solidFill>
            <a:srgbClr val="CACCD9">
              <a:alpha val="40000"/>
            </a:srgbClr>
          </a:solidFill>
          <a:ln w="9525" cap="flat" cmpd="sng">
            <a:solidFill>
              <a:srgbClr val="9098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rPr>
              <a:t>Concealing: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Opponent's learned model of you should stay wrong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4903403" y="2855062"/>
            <a:ext cx="2523600" cy="3657600"/>
          </a:xfrm>
          <a:prstGeom prst="roundRect">
            <a:avLst>
              <a:gd name="adj" fmla="val 16667"/>
            </a:avLst>
          </a:prstGeom>
          <a:solidFill>
            <a:srgbClr val="CACCD9">
              <a:alpha val="40000"/>
            </a:srgbClr>
          </a:solidFill>
          <a:ln w="9525" cap="flat" cmpd="sng">
            <a:solidFill>
              <a:srgbClr val="9098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rPr>
              <a:t>Advantage: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deal utility minus your reservation value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1560577" y="2855062"/>
            <a:ext cx="2523600" cy="3657600"/>
          </a:xfrm>
          <a:prstGeom prst="roundRect">
            <a:avLst>
              <a:gd name="adj" fmla="val 16667"/>
            </a:avLst>
          </a:prstGeom>
          <a:solidFill>
            <a:srgbClr val="CACCD9">
              <a:alpha val="40000"/>
            </a:srgbClr>
          </a:solidFill>
          <a:ln w="9525" cap="flat" cmpd="sng">
            <a:solidFill>
              <a:srgbClr val="9098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rPr>
              <a:t>Score =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Advantage + Concealing, both count equally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1560576" y="1417650"/>
            <a:ext cx="9070800" cy="1143000"/>
          </a:xfrm>
          <a:prstGeom prst="roundRect">
            <a:avLst>
              <a:gd name="adj" fmla="val 16667"/>
            </a:avLst>
          </a:prstGeom>
          <a:solidFill>
            <a:srgbClr val="FCE5CD">
              <a:alpha val="37254"/>
            </a:srgbClr>
          </a:solidFill>
          <a:ln w="9525" cap="flat" cmpd="sng">
            <a:solidFill>
              <a:srgbClr val="9098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Strategy must balance both - not maximize either alone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6000">
        <p159:morph option="byObject"/>
      </p:transition>
    </mc:Choice>
    <mc:Fallback xmlns="">
      <p:transition spd="slow" advClick="0" advTm="6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4400"/>
              <a:buFont typeface="Calibri"/>
              <a:buNone/>
            </a:pPr>
            <a:r>
              <a:rPr lang="en-US" dirty="0"/>
              <a:t>Why is the Bid Stream the Battleground?</a:t>
            </a:r>
            <a:endParaRPr dirty="0"/>
          </a:p>
        </p:txBody>
      </p:sp>
      <p:sp>
        <p:nvSpPr>
          <p:cNvPr id="200" name="Google Shape;200;p11"/>
          <p:cNvSpPr/>
          <p:nvPr/>
        </p:nvSpPr>
        <p:spPr>
          <a:xfrm>
            <a:off x="8075150" y="2973475"/>
            <a:ext cx="2926200" cy="3585600"/>
          </a:xfrm>
          <a:prstGeom prst="roundRect">
            <a:avLst>
              <a:gd name="adj" fmla="val 16667"/>
            </a:avLst>
          </a:prstGeom>
          <a:solidFill>
            <a:srgbClr val="CACCD9">
              <a:alpha val="40000"/>
            </a:srgbClr>
          </a:solidFill>
          <a:ln w="9525" cap="flat" cmpd="sng">
            <a:solidFill>
              <a:srgbClr val="9098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rPr>
              <a:t>The Inference Trap: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Bidding top outcomes causes identification of true preferences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4632900" y="2973475"/>
            <a:ext cx="2926200" cy="3585600"/>
          </a:xfrm>
          <a:prstGeom prst="roundRect">
            <a:avLst>
              <a:gd name="adj" fmla="val 16667"/>
            </a:avLst>
          </a:prstGeom>
          <a:solidFill>
            <a:srgbClr val="CACCD9">
              <a:alpha val="40000"/>
            </a:srgbClr>
          </a:solidFill>
          <a:ln w="9525" cap="flat" cmpd="sng">
            <a:solidFill>
              <a:srgbClr val="9098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rPr>
              <a:t>Sincere Bidding Risks: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Truth mechanism wins in auctions, not in decoys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1190650" y="2973475"/>
            <a:ext cx="2926200" cy="3585600"/>
          </a:xfrm>
          <a:prstGeom prst="roundRect">
            <a:avLst>
              <a:gd name="adj" fmla="val 16667"/>
            </a:avLst>
          </a:prstGeom>
          <a:solidFill>
            <a:srgbClr val="CACCD9">
              <a:alpha val="40000"/>
            </a:srgbClr>
          </a:solidFill>
          <a:ln w="9525" cap="flat" cmpd="sng">
            <a:solidFill>
              <a:srgbClr val="9098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rPr>
              <a:t>Central Conflict: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Frequency learners are used by almost all competitors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1560576" y="1417650"/>
            <a:ext cx="9070800" cy="1143000"/>
          </a:xfrm>
          <a:prstGeom prst="roundRect">
            <a:avLst>
              <a:gd name="adj" fmla="val 16667"/>
            </a:avLst>
          </a:prstGeom>
          <a:solidFill>
            <a:srgbClr val="FCE5CD">
              <a:alpha val="37254"/>
            </a:srgbClr>
          </a:solidFill>
          <a:ln w="9525" cap="flat" cmpd="sng">
            <a:solidFill>
              <a:srgbClr val="9098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4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rPr>
              <a:t>Research Question: 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persona effectively conceals while sustaining high-utility?</a:t>
            </a:r>
            <a:endParaRPr sz="3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6000">
        <p159:morph option="byObject"/>
      </p:transition>
    </mc:Choice>
    <mc:Fallback xmlns="">
      <p:transition spd="slow" advClick="0" advTm="6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"/>
          <p:cNvSpPr txBox="1">
            <a:spLocks noGrp="1"/>
          </p:cNvSpPr>
          <p:nvPr>
            <p:ph type="title"/>
          </p:nvPr>
        </p:nvSpPr>
        <p:spPr>
          <a:xfrm>
            <a:off x="2210767" y="129309"/>
            <a:ext cx="7770466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4400"/>
              <a:buFont typeface="Calibri"/>
              <a:buNone/>
            </a:pPr>
            <a:r>
              <a:rPr lang="en-US" dirty="0"/>
              <a:t>Three Decoy Personas</a:t>
            </a:r>
            <a:endParaRPr dirty="0"/>
          </a:p>
        </p:txBody>
      </p:sp>
      <p:sp>
        <p:nvSpPr>
          <p:cNvPr id="210" name="Google Shape;210;p12"/>
          <p:cNvSpPr/>
          <p:nvPr/>
        </p:nvSpPr>
        <p:spPr>
          <a:xfrm>
            <a:off x="8107679" y="1472893"/>
            <a:ext cx="3017520" cy="3706377"/>
          </a:xfrm>
          <a:prstGeom prst="roundRect">
            <a:avLst>
              <a:gd name="adj" fmla="val 16667"/>
            </a:avLst>
          </a:prstGeom>
          <a:solidFill>
            <a:srgbClr val="CACCD9">
              <a:alpha val="40000"/>
            </a:srgbClr>
          </a:solidFill>
          <a:ln w="9525" cap="flat" cmpd="sng">
            <a:solidFill>
              <a:srgbClr val="9098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rPr>
              <a:t>Reverse Psychology Persona - Honest Approach: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sincere outcomes first but introduces tactical noise later to misdirect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4587240" y="1472893"/>
            <a:ext cx="3017520" cy="3706377"/>
          </a:xfrm>
          <a:prstGeom prst="roundRect">
            <a:avLst>
              <a:gd name="adj" fmla="val 16667"/>
            </a:avLst>
          </a:prstGeom>
          <a:solidFill>
            <a:srgbClr val="CACCD9">
              <a:alpha val="40000"/>
            </a:srgbClr>
          </a:solidFill>
          <a:ln w="9525" cap="flat" cmpd="sng">
            <a:solidFill>
              <a:srgbClr val="9098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rPr>
              <a:t>Full Flip Persona - Radical Approach: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Presents entirely wrong priorities before an abrupt switch to its true preferences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1066801" y="1472890"/>
            <a:ext cx="3017520" cy="3706377"/>
          </a:xfrm>
          <a:prstGeom prst="roundRect">
            <a:avLst>
              <a:gd name="adj" fmla="val 16667"/>
            </a:avLst>
          </a:prstGeom>
          <a:solidFill>
            <a:srgbClr val="CACCD9">
              <a:alpha val="40000"/>
            </a:srgbClr>
          </a:solidFill>
          <a:ln w="9525" cap="flat" cmpd="sng">
            <a:solidFill>
              <a:srgbClr val="9098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rPr>
              <a:t>Gradient Persona - Gradual Mismatch: </a:t>
            </a:r>
            <a:endParaRPr sz="2400" b="1" i="0" u="none" strike="noStrike" cap="none" dirty="0">
              <a:solidFill>
                <a:srgbClr val="2327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Starting with a slightly skewed priority list with a slow transition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1066800" y="5525184"/>
            <a:ext cx="10058400" cy="1203507"/>
          </a:xfrm>
          <a:prstGeom prst="roundRect">
            <a:avLst>
              <a:gd name="adj" fmla="val 16667"/>
            </a:avLst>
          </a:prstGeom>
          <a:solidFill>
            <a:srgbClr val="FCE5CD">
              <a:alpha val="37254"/>
            </a:srgbClr>
          </a:solidFill>
          <a:ln w="9525" cap="flat" cmpd="sng">
            <a:solidFill>
              <a:srgbClr val="9098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rPr>
              <a:t>Comparative Goal: Finding the 'Goldilocks' zone of deception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6000">
        <p159:morph option="byObject"/>
      </p:transition>
    </mc:Choice>
    <mc:Fallback xmlns="">
      <p:transition spd="slow" advClick="0" advTm="6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"/>
          <p:cNvSpPr/>
          <p:nvPr/>
        </p:nvSpPr>
        <p:spPr>
          <a:xfrm>
            <a:off x="1495045" y="821352"/>
            <a:ext cx="9201900" cy="1798200"/>
          </a:xfrm>
          <a:prstGeom prst="roundRect">
            <a:avLst>
              <a:gd name="adj" fmla="val 16667"/>
            </a:avLst>
          </a:prstGeom>
          <a:solidFill>
            <a:srgbClr val="FCE5CD">
              <a:alpha val="37254"/>
            </a:srgbClr>
          </a:solidFill>
          <a:ln w="9525" cap="flat" cmpd="sng">
            <a:solidFill>
              <a:srgbClr val="9098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400"/>
              <a:buFont typeface="Arial"/>
              <a:buNone/>
            </a:pPr>
            <a:r>
              <a:rPr lang="en-US" sz="4400" b="1" i="0" u="none" strike="noStrike" cap="none" dirty="0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rPr>
              <a:t>Gradient Persona Won </a:t>
            </a:r>
            <a:endParaRPr sz="4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False priority profile while keeping utility high enough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6326125" y="3098687"/>
            <a:ext cx="4370700" cy="2727600"/>
          </a:xfrm>
          <a:prstGeom prst="roundRect">
            <a:avLst>
              <a:gd name="adj" fmla="val 16667"/>
            </a:avLst>
          </a:prstGeom>
          <a:solidFill>
            <a:srgbClr val="CACCD9">
              <a:alpha val="40000"/>
            </a:srgbClr>
          </a:solidFill>
          <a:ln w="9525" cap="flat" cmpd="sng">
            <a:solidFill>
              <a:srgbClr val="9098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rPr>
              <a:t>Reverse Psychology Rejected: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Concealment collapsed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3"/>
          <p:cNvSpPr/>
          <p:nvPr/>
        </p:nvSpPr>
        <p:spPr>
          <a:xfrm>
            <a:off x="1495046" y="3098711"/>
            <a:ext cx="4374000" cy="2727600"/>
          </a:xfrm>
          <a:prstGeom prst="roundRect">
            <a:avLst>
              <a:gd name="adj" fmla="val 16667"/>
            </a:avLst>
          </a:prstGeom>
          <a:solidFill>
            <a:srgbClr val="CACCD9">
              <a:alpha val="40000"/>
            </a:srgbClr>
          </a:solidFill>
          <a:ln w="9525" cap="flat" cmpd="sng">
            <a:solidFill>
              <a:srgbClr val="9098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rPr>
              <a:t>Full Flip Rejected: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Abrupt changes are easily detected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6000">
        <p159:morph option="byObject"/>
      </p:transition>
    </mc:Choice>
    <mc:Fallback xmlns="">
      <p:transition spd="slow" advClick="0" advTm="6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4400"/>
              <a:buFont typeface="Calibri"/>
              <a:buNone/>
            </a:pPr>
            <a:r>
              <a:rPr lang="en-US" dirty="0"/>
              <a:t>Negotiation Flow</a:t>
            </a:r>
            <a:endParaRPr dirty="0"/>
          </a:p>
        </p:txBody>
      </p:sp>
      <p:pic>
        <p:nvPicPr>
          <p:cNvPr id="228" name="Google Shape;22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2275" y="1364663"/>
            <a:ext cx="11627454" cy="5135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6000">
        <p159:morph option="byObject"/>
      </p:transition>
    </mc:Choice>
    <mc:Fallback xmlns="">
      <p:transition spd="slow" advClick="0" advTm="6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3"/>
          <p:cNvPicPr preferRelativeResize="0"/>
          <p:nvPr/>
        </p:nvPicPr>
        <p:blipFill rotWithShape="1">
          <a:blip r:embed="rId3">
            <a:alphaModFix/>
          </a:blip>
          <a:srcRect l="941" t="2283" r="648"/>
          <a:stretch/>
        </p:blipFill>
        <p:spPr>
          <a:xfrm>
            <a:off x="317616" y="1398270"/>
            <a:ext cx="11556769" cy="34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 txBox="1"/>
          <p:nvPr/>
        </p:nvSpPr>
        <p:spPr>
          <a:xfrm>
            <a:off x="609600" y="8891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4400"/>
              <a:buFont typeface="Calibri"/>
              <a:buNone/>
            </a:pPr>
            <a:r>
              <a:rPr lang="en-US" sz="4400" b="1" i="0" u="none" strike="noStrike" cap="none" dirty="0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rPr>
              <a:t>Same Stack, Opposite Strategies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6000">
        <p159:morph option="byObject"/>
      </p:transition>
    </mc:Choice>
    <mc:Fallback xmlns="">
      <p:transition spd="slow" advClick="0" advTm="60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4"/>
          <p:cNvSpPr txBox="1">
            <a:spLocks noGrp="1"/>
          </p:cNvSpPr>
          <p:nvPr>
            <p:ph type="title"/>
          </p:nvPr>
        </p:nvSpPr>
        <p:spPr>
          <a:xfrm>
            <a:off x="609600" y="192426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4400"/>
              <a:buFont typeface="Calibri"/>
              <a:buNone/>
            </a:pPr>
            <a:r>
              <a:rPr lang="en-US" dirty="0"/>
              <a:t>Lessons &amp; Conclusions</a:t>
            </a:r>
            <a:endParaRPr dirty="0"/>
          </a:p>
        </p:txBody>
      </p:sp>
      <p:sp>
        <p:nvSpPr>
          <p:cNvPr id="242" name="Google Shape;242;p24"/>
          <p:cNvSpPr/>
          <p:nvPr/>
        </p:nvSpPr>
        <p:spPr>
          <a:xfrm>
            <a:off x="788645" y="1513841"/>
            <a:ext cx="3200400" cy="2814318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2327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rPr>
              <a:t>Rules of the Game: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Strategy must be adopted according to the scoring method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4"/>
          <p:cNvSpPr/>
          <p:nvPr/>
        </p:nvSpPr>
        <p:spPr>
          <a:xfrm>
            <a:off x="4495800" y="1513842"/>
            <a:ext cx="3200400" cy="2814317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2327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rPr>
              <a:t>Data Budget Realism: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Opponent modeling must be tailored according to resources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4"/>
          <p:cNvSpPr/>
          <p:nvPr/>
        </p:nvSpPr>
        <p:spPr>
          <a:xfrm>
            <a:off x="8202955" y="1513842"/>
            <a:ext cx="3200400" cy="2814317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2327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rPr>
              <a:t>Diversity in Testing: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Evaluate agents across different scenarios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788646" y="4622799"/>
            <a:ext cx="4969216" cy="171704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2327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rPr>
              <a:t>Modular Separation: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Separate layers for independent experiments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4"/>
          <p:cNvSpPr/>
          <p:nvPr/>
        </p:nvSpPr>
        <p:spPr>
          <a:xfrm>
            <a:off x="6434136" y="4622799"/>
            <a:ext cx="4969217" cy="1717039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2327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232777"/>
                </a:solidFill>
                <a:latin typeface="Calibri"/>
                <a:ea typeface="Calibri"/>
                <a:cs typeface="Calibri"/>
                <a:sym typeface="Calibri"/>
              </a:rPr>
              <a:t>Empirical Iteration: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Trust results over intuition and theory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9" y="4361050"/>
            <a:ext cx="859536" cy="104241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</p:pic>
      <p:pic>
        <p:nvPicPr>
          <p:cNvPr id="248" name="Google Shape;248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3425" y="1254938"/>
            <a:ext cx="859536" cy="104241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</p:pic>
      <p:pic>
        <p:nvPicPr>
          <p:cNvPr id="249" name="Google Shape;249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30250" y="1254937"/>
            <a:ext cx="863500" cy="10398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</p:pic>
      <p:pic>
        <p:nvPicPr>
          <p:cNvPr id="250" name="Google Shape;250;p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54608" y="1254938"/>
            <a:ext cx="905256" cy="104241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</p:pic>
      <p:pic>
        <p:nvPicPr>
          <p:cNvPr id="251" name="Google Shape;251;p2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7775" y="4361050"/>
            <a:ext cx="905256" cy="104241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6000">
        <p159:morph option="byObject"/>
      </p:transition>
    </mc:Choice>
    <mc:Fallback xmlns="">
      <p:transition spd="slow" advClick="0" advTm="600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5"/>
          <p:cNvSpPr txBox="1">
            <a:spLocks noGrp="1"/>
          </p:cNvSpPr>
          <p:nvPr>
            <p:ph type="title"/>
          </p:nvPr>
        </p:nvSpPr>
        <p:spPr>
          <a:xfrm>
            <a:off x="538428" y="1346444"/>
            <a:ext cx="6042900" cy="38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77"/>
              </a:buClr>
              <a:buSzPts val="8000"/>
              <a:buFont typeface="Calibri"/>
              <a:buNone/>
            </a:pPr>
            <a:r>
              <a:rPr lang="en-US" sz="8000" dirty="0">
                <a:solidFill>
                  <a:srgbClr val="292574"/>
                </a:solidFill>
              </a:rPr>
              <a:t>Thank You For Listening!</a:t>
            </a:r>
            <a:endParaRPr sz="8000" dirty="0">
              <a:solidFill>
                <a:srgbClr val="292574"/>
              </a:solidFill>
            </a:endParaRPr>
          </a:p>
        </p:txBody>
      </p:sp>
      <p:pic>
        <p:nvPicPr>
          <p:cNvPr id="257" name="Google Shape;257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81675" y="0"/>
            <a:ext cx="5010325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6000">
        <p159:morph option="byObject"/>
      </p:transition>
    </mc:Choice>
    <mc:Fallback xmlns="">
      <p:transition spd="slow" advClick="0" advTm="6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1545</Words>
  <Application>Microsoft Office PowerPoint</Application>
  <PresentationFormat>Widescreen</PresentationFormat>
  <Paragraphs>185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Agents Negotiation</vt:lpstr>
      <vt:lpstr>Agenda</vt:lpstr>
      <vt:lpstr>Related Work</vt:lpstr>
      <vt:lpstr>Two Agents,  Two Challenges</vt:lpstr>
      <vt:lpstr>HAN 2026</vt:lpstr>
      <vt:lpstr>GunnerAgent: Pretending to be a Human</vt:lpstr>
      <vt:lpstr>GunnerAgent: Two Layers (Core + LLM)</vt:lpstr>
      <vt:lpstr>Gunner Core </vt:lpstr>
      <vt:lpstr>LLM Layer</vt:lpstr>
      <vt:lpstr>ANL 2026</vt:lpstr>
      <vt:lpstr>Agent360: Two Goals at Once</vt:lpstr>
      <vt:lpstr>Why is the Bid Stream the Battleground?</vt:lpstr>
      <vt:lpstr>Three Decoy Personas</vt:lpstr>
      <vt:lpstr>PowerPoint Presentation</vt:lpstr>
      <vt:lpstr>Negotiation Flow</vt:lpstr>
      <vt:lpstr>PowerPoint Presentation</vt:lpstr>
      <vt:lpstr>Lessons &amp; Conclusions</vt:lpstr>
      <vt:lpstr>Thank You For Listening!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Noam Kazum</dc:creator>
  <cp:lastModifiedBy>Kazum Noam</cp:lastModifiedBy>
  <cp:revision>2</cp:revision>
  <dcterms:created xsi:type="dcterms:W3CDTF">2013-01-27T09:14:16Z</dcterms:created>
  <dcterms:modified xsi:type="dcterms:W3CDTF">2026-08-30T18:59:58Z</dcterms:modified>
</cp:coreProperties>
</file>