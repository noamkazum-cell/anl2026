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6" r:id="rId3"/>
  </p:sldIdLst>
  <p:sldSz cx="32918400" cy="43891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1750"/>
    <a:srgbClr val="E7F2FF"/>
    <a:srgbClr val="C5DFFF"/>
    <a:srgbClr val="79B6FF"/>
    <a:srgbClr val="689FE6"/>
    <a:srgbClr val="4EBEBE"/>
    <a:srgbClr val="015BC2"/>
    <a:srgbClr val="548CC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6751" autoAdjust="0"/>
  </p:normalViewPr>
  <p:slideViewPr>
    <p:cSldViewPr snapToGrid="0" snapToObjects="1">
      <p:cViewPr varScale="1">
        <p:scale>
          <a:sx n="20" d="100"/>
          <a:sy n="20" d="100"/>
        </p:scale>
        <p:origin x="221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42143-C925-0117-21C3-8AEF75C7F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0" y="7183438"/>
            <a:ext cx="24688800" cy="1527968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FDFB1-9165-06B0-0C8E-F2602BD28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4800" y="23053675"/>
            <a:ext cx="24688800" cy="105965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EFBA1-DA9D-CF53-92A4-13CD40A60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3E799-212B-6E12-7E3F-8242871A9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34AAA3-8595-9458-A369-1C6E3F15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291294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D6412-C7F7-29D6-C073-FB25ECC95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057E8-2D16-6E5D-9683-575CE307A6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9B913-1373-7839-DF13-6DDFE127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629D6-5D1F-31C2-2D88-E9A942889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E814FF-83C3-65B5-5C0E-835A69575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2496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516E1-94D4-78DF-C909-215BF4363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6313" y="10942638"/>
            <a:ext cx="28392437" cy="18257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BB865-435C-C51C-C761-1771C9BDC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6313" y="29371925"/>
            <a:ext cx="28392437" cy="960120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869C48-D2AD-81EF-8E85-572050DB9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5330E-D888-1058-AC6F-8A527909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B4580-3EB2-B939-D335-8A5C76035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61075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EEB7F-7D53-3CFC-6AC9-D88CB4DA5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E0277-16E7-4403-07FA-3BD7773D6A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3775" y="11684000"/>
            <a:ext cx="14119225" cy="27847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5FB94-0354-7D6F-0CEB-9051701BB1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535400" y="11684000"/>
            <a:ext cx="14119225" cy="278479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9FC56-41CF-39D6-6557-67C42DB6C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9F3E1-9385-7743-A2CB-10D6BB318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025BF-8E5A-1B08-9456-6BCD3AD0E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265647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D51F-42B7-6B85-6079-F4CF6936F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950" y="2336800"/>
            <a:ext cx="28392438" cy="8483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F08748-8171-D6A9-3BFF-8F71690D3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6950" y="10760075"/>
            <a:ext cx="13927138" cy="52720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8CC96-B24D-7F20-015F-8CD61F285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66950" y="16032163"/>
            <a:ext cx="13927138" cy="235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D87090-F1E6-DCA0-BDB7-A48F2E49D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665575" y="10760075"/>
            <a:ext cx="13993813" cy="527208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A2B912-E1DA-B6C2-5989-1EE99B44E9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665575" y="16032163"/>
            <a:ext cx="13993813" cy="235823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F30D07-3A74-1EC9-BDCA-648B45C8D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1B6619-5F65-E822-2CB5-1FF4B4616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818F56-F32F-4AD7-C16A-2DEC7747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8456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10AA6-3E1F-EE1E-D622-78A50589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7DA78-0A40-911A-6A11-7EF4C7C0F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7BA1EC-F36E-F663-0637-229A3E36D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E301F2-F6AA-8D1C-E1F6-793D3F799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59746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65B56E-4AFA-4663-0511-1A03E43F0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73F01B-C9FA-19CF-12B0-CDCA5D124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49AE35-347E-E599-007B-86B16F950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926711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EE2A-F266-BE5D-FC96-5D20BE892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950" y="2925763"/>
            <a:ext cx="10617200" cy="1024096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3B3FD-393B-CDFB-AC34-CFECEB9D7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5400" y="6319838"/>
            <a:ext cx="16663988" cy="311912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CD31D-4666-A667-DC51-802AF33ED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6950" y="13166725"/>
            <a:ext cx="10617200" cy="243951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A6995-59DA-0695-ACAB-64C1BE165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1CBC5-DC24-22AF-D1EB-B7BDC430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0AF1A-47C0-4F4A-A6C6-8DD246557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67778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E2616-5BDF-AD24-6037-8860CF89A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6950" y="2925763"/>
            <a:ext cx="10617200" cy="1024096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5C72D3-4F6F-F3E3-7CAD-BE39E59D6F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3995400" y="6319838"/>
            <a:ext cx="16663988" cy="31191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6588B-D499-6315-060A-690F6FBBBC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6950" y="13166725"/>
            <a:ext cx="10617200" cy="2439511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9BB56-F3C3-0B61-4D69-A357FD3E7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13E07-1BFA-5E63-43A8-E5348B918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29252-37ED-DF18-AE4C-E06590972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8879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BA46C-4F34-FD08-A685-0409F6E4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54E3E8-FD9A-F6E4-65B2-67E52C16CC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D50BB-353A-6017-0017-432D8484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F812B-87C3-11E2-E3D0-DA9D7363B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90596-A2EF-D9E3-9F2B-8CAE149F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2652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CC0A7F-78CB-7BED-EB6D-FCA6EDE53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3556913" y="2336800"/>
            <a:ext cx="7097712" cy="37195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94B39-93A1-9B89-7005-5FDB2D45B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63775" y="2336800"/>
            <a:ext cx="21140738" cy="37195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F96F2-6A25-3963-280F-EA55AC7B5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9167E-5610-85CB-ED3A-955D3395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3E504-A4C0-8654-6911-A07BE387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756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BB5AC-8C86-03AB-80C8-448B15CB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775" y="2336800"/>
            <a:ext cx="28390850" cy="848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35B348-52C2-FD8E-EEE7-38F87F26C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775" y="11684000"/>
            <a:ext cx="28390850" cy="27847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E1B34-1C6A-247B-20A5-A8BA1FE33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775" y="40681275"/>
            <a:ext cx="7405688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0CBFB-1B29-4990-9EA9-2358753E4F94}" type="datetimeFigureOut">
              <a:rPr lang="he-IL" smtClean="0"/>
              <a:t>י"ח/אב/תשפ"ו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884C2-C247-C4D5-2BC1-0C6C6F0F0D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4538" y="40681275"/>
            <a:ext cx="11109325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92200-05F5-126A-426E-F6BA8B581D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48938" y="40681275"/>
            <a:ext cx="7405687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8D4BCE-7691-49EC-B719-D3B470CFBDC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42885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20">
            <a:extLst>
              <a:ext uri="{FF2B5EF4-FFF2-40B4-BE49-F238E27FC236}">
                <a16:creationId xmlns:a16="http://schemas.microsoft.com/office/drawing/2014/main" id="{51F09E73-6331-3DB9-8A54-D0B9F1E6BB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320" y="274320"/>
            <a:ext cx="32369760" cy="43342560"/>
          </a:xfrm>
          <a:prstGeom prst="rect">
            <a:avLst/>
          </a:prstGeom>
          <a:solidFill>
            <a:schemeClr val="bg1"/>
          </a:solidFill>
          <a:ln w="44450">
            <a:solidFill>
              <a:srgbClr val="001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  <a:spcAft>
                <a:spcPts val="1400"/>
              </a:spcAft>
            </a:pPr>
            <a:endParaRPr lang="en-US" b="1" dirty="0">
              <a:solidFill>
                <a:srgbClr val="0B2C5E"/>
              </a:solidFill>
              <a:highlight>
                <a:srgbClr val="FFFF00"/>
              </a:highlight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74320" y="274320"/>
            <a:ext cx="32369760" cy="502920"/>
          </a:xfrm>
          <a:prstGeom prst="rect">
            <a:avLst/>
          </a:prstGeom>
          <a:solidFill>
            <a:srgbClr val="0B2C5E"/>
          </a:solidFill>
          <a:ln>
            <a:solidFill>
              <a:srgbClr val="0B2C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960120"/>
            <a:ext cx="30723840" cy="129266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0" b="1" dirty="0">
                <a:solidFill>
                  <a:srgbClr val="C00000"/>
                </a:solidFill>
                <a:latin typeface="Times New Roman"/>
              </a:rPr>
              <a:t>Agent360: A Concealment-First Bilateral Negotiator for ANL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30723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dirty="0">
                <a:solidFill>
                  <a:srgbClr val="111111"/>
                </a:solidFill>
                <a:latin typeface="Times New Roman"/>
              </a:rPr>
              <a:t>Noam Kazum  ·  Omer Shani Steinmetz  ·  Dr. Galit Haim  ·  Dr. Raz Lin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3072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000" b="1" dirty="0">
                <a:solidFill>
                  <a:srgbClr val="1B4F8A"/>
                </a:solidFill>
                <a:latin typeface="Calibri"/>
              </a:rPr>
              <a:t>The College of Management Academic Studies  ·  ANL / ANAC 2026  ·  June 2026</a:t>
            </a:r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FFC7B67E-F40C-F72C-B45F-0589C21C511A}"/>
              </a:ext>
            </a:extLst>
          </p:cNvPr>
          <p:cNvGrpSpPr/>
          <p:nvPr/>
        </p:nvGrpSpPr>
        <p:grpSpPr>
          <a:xfrm>
            <a:off x="17553269" y="5054453"/>
            <a:ext cx="14637388" cy="11465035"/>
            <a:chOff x="2609849" y="7118092"/>
            <a:chExt cx="10340738" cy="6145200"/>
          </a:xfrm>
        </p:grpSpPr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5823C8F4-F955-CEC9-12B6-CA1158B92AF1}"/>
                </a:ext>
              </a:extLst>
            </p:cNvPr>
            <p:cNvSpPr txBox="1"/>
            <p:nvPr/>
          </p:nvSpPr>
          <p:spPr>
            <a:xfrm>
              <a:off x="2919458" y="7208623"/>
              <a:ext cx="828675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0" b="1" dirty="0">
                  <a:solidFill>
                    <a:srgbClr val="001750"/>
                  </a:solidFill>
                  <a:latin typeface="Times New Roman"/>
                </a:rPr>
                <a:t>Opponent Model</a:t>
              </a:r>
              <a:endParaRPr lang="he-IL" sz="6000" b="1" dirty="0">
                <a:solidFill>
                  <a:srgbClr val="001750"/>
                </a:solidFill>
                <a:latin typeface="Times New Roman"/>
              </a:endParaRPr>
            </a:p>
          </p:txBody>
        </p:sp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C84E5BDA-ACD0-A095-CFA3-9ABF8C61B9C9}"/>
                </a:ext>
              </a:extLst>
            </p:cNvPr>
            <p:cNvSpPr/>
            <p:nvPr/>
          </p:nvSpPr>
          <p:spPr>
            <a:xfrm>
              <a:off x="2609849" y="7118092"/>
              <a:ext cx="10340738" cy="6145200"/>
            </a:xfrm>
            <a:prstGeom prst="roundRect">
              <a:avLst>
                <a:gd name="adj" fmla="val 5983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6B5AE185-6B77-4E01-E5B4-DE62772B04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09849" y="7921289"/>
              <a:ext cx="10340738" cy="33963"/>
            </a:xfrm>
            <a:prstGeom prst="line">
              <a:avLst/>
            </a:prstGeom>
            <a:ln>
              <a:solidFill>
                <a:srgbClr val="0017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CF4AA14-66FD-DA59-447C-27706CC47954}"/>
              </a:ext>
            </a:extLst>
          </p:cNvPr>
          <p:cNvGrpSpPr/>
          <p:nvPr/>
        </p:nvGrpSpPr>
        <p:grpSpPr>
          <a:xfrm>
            <a:off x="17553268" y="24604474"/>
            <a:ext cx="14922478" cy="11508848"/>
            <a:chOff x="17671382" y="21555383"/>
            <a:chExt cx="12288257" cy="9513130"/>
          </a:xfrm>
        </p:grpSpPr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3EE8320-F75E-E867-3058-1434AEF6B818}"/>
                </a:ext>
              </a:extLst>
            </p:cNvPr>
            <p:cNvSpPr txBox="1"/>
            <p:nvPr/>
          </p:nvSpPr>
          <p:spPr>
            <a:xfrm>
              <a:off x="17862558" y="28349877"/>
              <a:ext cx="12097081" cy="236597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0"/>
                </a:spcBef>
                <a:spcAft>
                  <a:spcPts val="800"/>
                </a:spcAft>
              </a:pPr>
              <a:r>
                <a:rPr lang="en-US" sz="3600" b="1" dirty="0">
                  <a:solidFill>
                    <a:srgbClr val="002060"/>
                  </a:solidFill>
                </a:rPr>
                <a:t>Result pattern: </a:t>
              </a:r>
              <a:r>
                <a:rPr lang="en-US" sz="3600" dirty="0">
                  <a:solidFill>
                    <a:srgbClr val="001750"/>
                  </a:solidFill>
                </a:rPr>
                <a:t>strong Concealing against stress agents; competitive balance on learner and deceptive panels. Promoted: early decoy exit, mode closing caps, first-seat decoy rotation, anti-mirror pools, catastrophe accept. Removed after regressions: reverse-truth persona, mid-game escape acceptance, overly strict first-seat gates.</a:t>
              </a:r>
            </a:p>
          </p:txBody>
        </p: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DD6E808A-352E-9F29-4FAF-37BDABC253E0}"/>
                </a:ext>
              </a:extLst>
            </p:cNvPr>
            <p:cNvGrpSpPr/>
            <p:nvPr/>
          </p:nvGrpSpPr>
          <p:grpSpPr>
            <a:xfrm>
              <a:off x="17671382" y="21555383"/>
              <a:ext cx="12097081" cy="9513130"/>
              <a:chOff x="2602763" y="7118092"/>
              <a:chExt cx="9971721" cy="9039323"/>
            </a:xfrm>
          </p:grpSpPr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45A5C22E-78FF-53DC-8569-2E99461F71AB}"/>
                  </a:ext>
                </a:extLst>
              </p:cNvPr>
              <p:cNvSpPr txBox="1"/>
              <p:nvPr/>
            </p:nvSpPr>
            <p:spPr>
              <a:xfrm>
                <a:off x="2919458" y="7208624"/>
                <a:ext cx="8286750" cy="1459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000" b="1" dirty="0">
                    <a:solidFill>
                      <a:srgbClr val="001750"/>
                    </a:solidFill>
                    <a:latin typeface="Times New Roman"/>
                  </a:rPr>
                  <a:t>Evaluation</a:t>
                </a:r>
                <a:endParaRPr lang="he-IL" sz="6000" b="1" dirty="0">
                  <a:solidFill>
                    <a:srgbClr val="001750"/>
                  </a:solidFill>
                  <a:latin typeface="Times New Roman"/>
                </a:endParaRPr>
              </a:p>
            </p:txBody>
          </p:sp>
          <p:sp>
            <p:nvSpPr>
              <p:cNvPr id="196" name="Rectangle: Rounded Corners 195">
                <a:extLst>
                  <a:ext uri="{FF2B5EF4-FFF2-40B4-BE49-F238E27FC236}">
                    <a16:creationId xmlns:a16="http://schemas.microsoft.com/office/drawing/2014/main" id="{7E39EDDF-AFC0-3D8A-FCFA-C40E0A66E87A}"/>
                  </a:ext>
                </a:extLst>
              </p:cNvPr>
              <p:cNvSpPr/>
              <p:nvPr/>
            </p:nvSpPr>
            <p:spPr>
              <a:xfrm>
                <a:off x="2609850" y="7118092"/>
                <a:ext cx="9964634" cy="9039323"/>
              </a:xfrm>
              <a:prstGeom prst="roundRect">
                <a:avLst>
                  <a:gd name="adj" fmla="val 5983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 dirty="0"/>
              </a:p>
            </p:txBody>
          </p:sp>
          <p:cxnSp>
            <p:nvCxnSpPr>
              <p:cNvPr id="197" name="Straight Connector 196">
                <a:extLst>
                  <a:ext uri="{FF2B5EF4-FFF2-40B4-BE49-F238E27FC236}">
                    <a16:creationId xmlns:a16="http://schemas.microsoft.com/office/drawing/2014/main" id="{691E69EF-F17B-25DF-45B3-5C2FE0B35E2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02763" y="8079082"/>
                <a:ext cx="9964634" cy="33963"/>
              </a:xfrm>
              <a:prstGeom prst="line">
                <a:avLst/>
              </a:prstGeom>
              <a:ln>
                <a:solidFill>
                  <a:srgbClr val="0017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aphicFrame>
        <p:nvGraphicFramePr>
          <p:cNvPr id="202" name="Table 201">
            <a:extLst>
              <a:ext uri="{FF2B5EF4-FFF2-40B4-BE49-F238E27FC236}">
                <a16:creationId xmlns:a16="http://schemas.microsoft.com/office/drawing/2014/main" id="{0B99C013-DA00-8120-F0B5-C862373A0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440908"/>
              </p:ext>
            </p:extLst>
          </p:nvPr>
        </p:nvGraphicFramePr>
        <p:xfrm>
          <a:off x="18514629" y="26390601"/>
          <a:ext cx="13383709" cy="44643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3734674">
                  <a:extLst>
                    <a:ext uri="{9D8B030D-6E8A-4147-A177-3AD203B41FA5}">
                      <a16:colId xmlns:a16="http://schemas.microsoft.com/office/drawing/2014/main" val="288094687"/>
                    </a:ext>
                  </a:extLst>
                </a:gridCol>
                <a:gridCol w="3734674">
                  <a:extLst>
                    <a:ext uri="{9D8B030D-6E8A-4147-A177-3AD203B41FA5}">
                      <a16:colId xmlns:a16="http://schemas.microsoft.com/office/drawing/2014/main" val="3727972549"/>
                    </a:ext>
                  </a:extLst>
                </a:gridCol>
                <a:gridCol w="3734674">
                  <a:extLst>
                    <a:ext uri="{9D8B030D-6E8A-4147-A177-3AD203B41FA5}">
                      <a16:colId xmlns:a16="http://schemas.microsoft.com/office/drawing/2014/main" val="1762242019"/>
                    </a:ext>
                  </a:extLst>
                </a:gridCol>
                <a:gridCol w="2179687">
                  <a:extLst>
                    <a:ext uri="{9D8B030D-6E8A-4147-A177-3AD203B41FA5}">
                      <a16:colId xmlns:a16="http://schemas.microsoft.com/office/drawing/2014/main" val="2436977979"/>
                    </a:ext>
                  </a:extLst>
                </a:gridCol>
              </a:tblGrid>
              <a:tr h="1272053">
                <a:tc>
                  <a:txBody>
                    <a:bodyPr/>
                    <a:lstStyle/>
                    <a:p>
                      <a:pPr algn="ctr" rtl="0"/>
                      <a:r>
                        <a:rPr lang="en-US" sz="6000" b="1" dirty="0">
                          <a:solidFill>
                            <a:srgbClr val="79B6FF"/>
                          </a:solidFill>
                          <a:latin typeface="+mn-lt"/>
                          <a:cs typeface="+mn-cs"/>
                        </a:rPr>
                        <a:t>Sparring</a:t>
                      </a:r>
                      <a:endParaRPr lang="he-IL" sz="6000" dirty="0">
                        <a:solidFill>
                          <a:srgbClr val="79B6FF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0" b="1" dirty="0">
                          <a:solidFill>
                            <a:srgbClr val="79B6FF"/>
                          </a:solidFill>
                          <a:latin typeface="+mn-lt"/>
                          <a:cs typeface="+mn-cs"/>
                        </a:rPr>
                        <a:t>Stress</a:t>
                      </a:r>
                      <a:endParaRPr lang="he-IL" sz="6000" dirty="0">
                        <a:solidFill>
                          <a:srgbClr val="79B6FF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6000" b="1" dirty="0">
                          <a:solidFill>
                            <a:srgbClr val="79B6FF"/>
                          </a:solidFill>
                          <a:latin typeface="+mn-lt"/>
                          <a:cs typeface="+mn-cs"/>
                        </a:rPr>
                        <a:t>Learners</a:t>
                      </a:r>
                      <a:endParaRPr lang="he-IL" sz="6000" dirty="0">
                        <a:solidFill>
                          <a:srgbClr val="79B6FF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he-IL" sz="6000" dirty="0">
                        <a:solidFill>
                          <a:srgbClr val="79B6FF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7727302"/>
                  </a:ext>
                </a:extLst>
              </a:tr>
              <a:tr h="1741773">
                <a:tc>
                  <a:txBody>
                    <a:bodyPr/>
                    <a:lstStyle/>
                    <a:p>
                      <a:pPr algn="ctr" rtl="0"/>
                      <a:r>
                        <a:rPr lang="en-US" sz="4000" b="1" dirty="0">
                          <a:solidFill>
                            <a:srgbClr val="001750"/>
                          </a:solidFill>
                          <a:latin typeface="+mn-lt"/>
                          <a:cs typeface="+mn-cs"/>
                        </a:rPr>
                        <a:t>mirror · bait-switch · strong learners</a:t>
                      </a:r>
                      <a:endParaRPr lang="he-IL" sz="4000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4000" b="1" dirty="0">
                          <a:solidFill>
                            <a:srgbClr val="001750"/>
                          </a:solidFill>
                          <a:latin typeface="+mn-lt"/>
                          <a:cs typeface="+mn-cs"/>
                        </a:rPr>
                        <a:t>Time-based </a:t>
                      </a:r>
                      <a:r>
                        <a:rPr lang="en-US" sz="4000" b="1" dirty="0" err="1">
                          <a:solidFill>
                            <a:srgbClr val="001750"/>
                          </a:solidFill>
                          <a:latin typeface="+mn-lt"/>
                          <a:cs typeface="+mn-cs"/>
                        </a:rPr>
                        <a:t>NegMAS</a:t>
                      </a:r>
                      <a:r>
                        <a:rPr lang="en-US" sz="4000" b="1" dirty="0">
                          <a:solidFill>
                            <a:srgbClr val="001750"/>
                          </a:solidFill>
                          <a:latin typeface="+mn-lt"/>
                          <a:cs typeface="+mn-cs"/>
                        </a:rPr>
                        <a:t> baselines</a:t>
                      </a:r>
                      <a:endParaRPr lang="he-IL" sz="4000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dirty="0">
                          <a:solidFill>
                            <a:srgbClr val="001750"/>
                          </a:solidFill>
                          <a:latin typeface="+mn-lt"/>
                          <a:cs typeface="+mn-cs"/>
                        </a:rPr>
                        <a:t>BOA · MAP · </a:t>
                      </a:r>
                      <a:r>
                        <a:rPr lang="en-US" sz="4000" b="1" dirty="0" err="1">
                          <a:solidFill>
                            <a:srgbClr val="001750"/>
                          </a:solidFill>
                          <a:latin typeface="+mn-lt"/>
                          <a:cs typeface="+mn-cs"/>
                        </a:rPr>
                        <a:t>MiCRO</a:t>
                      </a:r>
                      <a:endParaRPr lang="en-US" sz="4000" b="1" dirty="0">
                        <a:solidFill>
                          <a:srgbClr val="001750"/>
                        </a:solidFill>
                        <a:latin typeface="+mn-lt"/>
                        <a:cs typeface="+mn-cs"/>
                      </a:endParaRPr>
                    </a:p>
                    <a:p>
                      <a:pPr algn="ctr" rtl="0"/>
                      <a:endParaRPr lang="he-IL" sz="4000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endParaRPr lang="he-IL" sz="4000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095265"/>
                  </a:ext>
                </a:extLst>
              </a:tr>
              <a:tr h="1272053">
                <a:tc>
                  <a:txBody>
                    <a:bodyPr/>
                    <a:lstStyle/>
                    <a:p>
                      <a:pPr algn="ctr" rtl="0"/>
                      <a:r>
                        <a:rPr lang="en-US" sz="4400" b="1" dirty="0">
                          <a:solidFill>
                            <a:srgbClr val="001750"/>
                          </a:solidFill>
                          <a:cs typeface="+mn-cs"/>
                        </a:rPr>
                        <a:t>63%</a:t>
                      </a:r>
                      <a:endParaRPr lang="he-IL" sz="4400" b="1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4400" b="1" dirty="0">
                          <a:solidFill>
                            <a:srgbClr val="001750"/>
                          </a:solidFill>
                          <a:cs typeface="+mn-cs"/>
                        </a:rPr>
                        <a:t>95%</a:t>
                      </a:r>
                      <a:endParaRPr lang="he-IL" sz="4400" b="1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4400" b="1" dirty="0">
                          <a:solidFill>
                            <a:srgbClr val="001750"/>
                          </a:solidFill>
                          <a:cs typeface="+mn-cs"/>
                        </a:rPr>
                        <a:t>48%</a:t>
                      </a:r>
                      <a:endParaRPr lang="he-IL" sz="4400" b="1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4400" b="1" dirty="0">
                          <a:solidFill>
                            <a:srgbClr val="0B2C5E"/>
                          </a:solidFill>
                        </a:rPr>
                        <a:t>wins</a:t>
                      </a:r>
                      <a:endParaRPr lang="he-IL" sz="4400" b="1" dirty="0">
                        <a:solidFill>
                          <a:srgbClr val="001750"/>
                        </a:solidFill>
                        <a:cs typeface="+mn-cs"/>
                      </a:endParaRPr>
                    </a:p>
                  </a:txBody>
                  <a:tcPr>
                    <a:lnL w="2857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20768"/>
                  </a:ext>
                </a:extLst>
              </a:tr>
            </a:tbl>
          </a:graphicData>
        </a:graphic>
      </p:graphicFrame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EC110B3-3065-64FA-7EBD-3C0E7C8EC5C3}"/>
              </a:ext>
            </a:extLst>
          </p:cNvPr>
          <p:cNvGrpSpPr/>
          <p:nvPr/>
        </p:nvGrpSpPr>
        <p:grpSpPr>
          <a:xfrm>
            <a:off x="735937" y="11826959"/>
            <a:ext cx="15660000" cy="4261352"/>
            <a:chOff x="14054948" y="10995584"/>
            <a:chExt cx="15660000" cy="4261352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9879AF47-1C82-24F7-4849-9D378BA8469D}"/>
                </a:ext>
              </a:extLst>
            </p:cNvPr>
            <p:cNvSpPr txBox="1"/>
            <p:nvPr/>
          </p:nvSpPr>
          <p:spPr>
            <a:xfrm>
              <a:off x="14336381" y="12390076"/>
              <a:ext cx="14904720" cy="64008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r>
                <a:rPr sz="3600" b="1" dirty="0">
                  <a:solidFill>
                    <a:srgbClr val="001750"/>
                  </a:solidFill>
                  <a:latin typeface="Calibri"/>
                </a:rPr>
                <a:t>Bid stream only </a:t>
              </a:r>
              <a:r>
                <a:rPr lang="he-IL" sz="3600" b="1" dirty="0">
                  <a:solidFill>
                    <a:srgbClr val="001750"/>
                  </a:solidFill>
                  <a:latin typeface="Calibri"/>
                </a:rPr>
                <a:t> - </a:t>
              </a:r>
              <a:r>
                <a:rPr sz="3600" b="1" dirty="0">
                  <a:solidFill>
                    <a:srgbClr val="001750"/>
                  </a:solidFill>
                  <a:latin typeface="Calibri"/>
                </a:rPr>
                <a:t> no opponent class, no true utility</a:t>
              </a:r>
            </a:p>
          </p:txBody>
        </p:sp>
        <p:sp>
          <p:nvSpPr>
            <p:cNvPr id="205" name="Rounded Rectangle 10">
              <a:extLst>
                <a:ext uri="{FF2B5EF4-FFF2-40B4-BE49-F238E27FC236}">
                  <a16:creationId xmlns:a16="http://schemas.microsoft.com/office/drawing/2014/main" id="{FA3FCC69-3584-43AF-4684-7262CFA2FB36}"/>
                </a:ext>
              </a:extLst>
            </p:cNvPr>
            <p:cNvSpPr/>
            <p:nvPr/>
          </p:nvSpPr>
          <p:spPr>
            <a:xfrm>
              <a:off x="14336381" y="13452563"/>
              <a:ext cx="4206240" cy="13716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31750">
              <a:solidFill>
                <a:srgbClr val="8B1E3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6" name="Rounded Rectangle 13">
              <a:extLst>
                <a:ext uri="{FF2B5EF4-FFF2-40B4-BE49-F238E27FC236}">
                  <a16:creationId xmlns:a16="http://schemas.microsoft.com/office/drawing/2014/main" id="{A4AFCCF1-72B0-DE26-0929-31562316360B}"/>
                </a:ext>
              </a:extLst>
            </p:cNvPr>
            <p:cNvSpPr/>
            <p:nvPr/>
          </p:nvSpPr>
          <p:spPr>
            <a:xfrm>
              <a:off x="19365581" y="13452563"/>
              <a:ext cx="4206240" cy="13716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31750">
              <a:solidFill>
                <a:srgbClr val="1B4F8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7" name="Rounded Rectangle 16">
              <a:extLst>
                <a:ext uri="{FF2B5EF4-FFF2-40B4-BE49-F238E27FC236}">
                  <a16:creationId xmlns:a16="http://schemas.microsoft.com/office/drawing/2014/main" id="{6D5FB7EC-5E45-EBD8-D248-8063C1A811C0}"/>
                </a:ext>
              </a:extLst>
            </p:cNvPr>
            <p:cNvSpPr/>
            <p:nvPr/>
          </p:nvSpPr>
          <p:spPr>
            <a:xfrm>
              <a:off x="24394781" y="13452563"/>
              <a:ext cx="4206240" cy="13716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31750">
              <a:solidFill>
                <a:srgbClr val="0D5C6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5EA8E5AA-9A2F-8BB4-4615-DA7441622E90}"/>
                </a:ext>
              </a:extLst>
            </p:cNvPr>
            <p:cNvGrpSpPr/>
            <p:nvPr/>
          </p:nvGrpSpPr>
          <p:grpSpPr>
            <a:xfrm>
              <a:off x="14355845" y="13448613"/>
              <a:ext cx="14264640" cy="1374735"/>
              <a:chOff x="2609850" y="15799264"/>
              <a:chExt cx="14264640" cy="1374735"/>
            </a:xfrm>
          </p:grpSpPr>
          <p:sp>
            <p:nvSpPr>
              <p:cNvPr id="213" name="TextBox 212">
                <a:extLst>
                  <a:ext uri="{FF2B5EF4-FFF2-40B4-BE49-F238E27FC236}">
                    <a16:creationId xmlns:a16="http://schemas.microsoft.com/office/drawing/2014/main" id="{D41CE554-0AB9-1C5A-204C-056D229C923F}"/>
                  </a:ext>
                </a:extLst>
              </p:cNvPr>
              <p:cNvSpPr txBox="1"/>
              <p:nvPr/>
            </p:nvSpPr>
            <p:spPr>
              <a:xfrm>
                <a:off x="2609850" y="15799264"/>
                <a:ext cx="4206240" cy="137473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400"/>
                  </a:spcAft>
                </a:pPr>
                <a:r>
                  <a:rPr sz="4000" b="1" dirty="0">
                    <a:solidFill>
                      <a:srgbClr val="8B1E3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Bidding</a:t>
                </a:r>
              </a:p>
              <a:p>
                <a:pPr algn="ctr">
                  <a:spcBef>
                    <a:spcPts val="0"/>
                  </a:spcBef>
                  <a:spcAft>
                    <a:spcPts val="400"/>
                  </a:spcAft>
                </a:pPr>
                <a:r>
                  <a:rPr sz="4000" b="1" dirty="0">
                    <a:solidFill>
                      <a:srgbClr val="8B1E3F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Persona</a:t>
                </a:r>
              </a:p>
            </p:txBody>
          </p:sp>
          <p:sp>
            <p:nvSpPr>
              <p:cNvPr id="214" name="Right Arrow 12">
                <a:extLst>
                  <a:ext uri="{FF2B5EF4-FFF2-40B4-BE49-F238E27FC236}">
                    <a16:creationId xmlns:a16="http://schemas.microsoft.com/office/drawing/2014/main" id="{7171688A-9DD1-C9CF-6ABF-D1FB715E489C}"/>
                  </a:ext>
                </a:extLst>
              </p:cNvPr>
              <p:cNvSpPr/>
              <p:nvPr/>
            </p:nvSpPr>
            <p:spPr>
              <a:xfrm>
                <a:off x="6953250" y="16276320"/>
                <a:ext cx="548640" cy="438912"/>
              </a:xfrm>
              <a:prstGeom prst="rightArrow">
                <a:avLst/>
              </a:prstGeom>
              <a:solidFill>
                <a:srgbClr val="1B4F8A"/>
              </a:solidFill>
              <a:ln w="25400">
                <a:solidFill>
                  <a:srgbClr val="1B4F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BCBD8417-4FD4-FB72-3B8E-A34EB24F8F3A}"/>
                  </a:ext>
                </a:extLst>
              </p:cNvPr>
              <p:cNvSpPr txBox="1"/>
              <p:nvPr/>
            </p:nvSpPr>
            <p:spPr>
              <a:xfrm>
                <a:off x="7639050" y="15799264"/>
                <a:ext cx="4206240" cy="137473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400"/>
                  </a:spcAft>
                </a:pPr>
                <a:r>
                  <a:rPr sz="4000" b="1" dirty="0">
                    <a:solidFill>
                      <a:srgbClr val="1B4F8A"/>
                    </a:solidFill>
                    <a:latin typeface="Calibri"/>
                  </a:rPr>
                  <a:t>Opponent</a:t>
                </a:r>
              </a:p>
              <a:p>
                <a:pPr algn="ctr">
                  <a:spcBef>
                    <a:spcPts val="0"/>
                  </a:spcBef>
                  <a:spcAft>
                    <a:spcPts val="400"/>
                  </a:spcAft>
                </a:pPr>
                <a:r>
                  <a:rPr sz="4000" b="1" dirty="0">
                    <a:solidFill>
                      <a:srgbClr val="1B4F8A"/>
                    </a:solidFill>
                    <a:latin typeface="Calibri"/>
                  </a:rPr>
                  <a:t>Model</a:t>
                </a:r>
              </a:p>
            </p:txBody>
          </p:sp>
          <p:sp>
            <p:nvSpPr>
              <p:cNvPr id="216" name="Right Arrow 15">
                <a:extLst>
                  <a:ext uri="{FF2B5EF4-FFF2-40B4-BE49-F238E27FC236}">
                    <a16:creationId xmlns:a16="http://schemas.microsoft.com/office/drawing/2014/main" id="{6D0FBA66-A265-880B-B6F3-55E9509A793B}"/>
                  </a:ext>
                </a:extLst>
              </p:cNvPr>
              <p:cNvSpPr/>
              <p:nvPr/>
            </p:nvSpPr>
            <p:spPr>
              <a:xfrm>
                <a:off x="11982450" y="16276320"/>
                <a:ext cx="548640" cy="438912"/>
              </a:xfrm>
              <a:prstGeom prst="rightArrow">
                <a:avLst/>
              </a:prstGeom>
              <a:solidFill>
                <a:srgbClr val="1B4F8A"/>
              </a:solidFill>
              <a:ln w="25400">
                <a:solidFill>
                  <a:srgbClr val="1B4F8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TextBox 216">
                <a:extLst>
                  <a:ext uri="{FF2B5EF4-FFF2-40B4-BE49-F238E27FC236}">
                    <a16:creationId xmlns:a16="http://schemas.microsoft.com/office/drawing/2014/main" id="{D7ECDD85-DB3C-768C-B66F-007B3DB929E4}"/>
                  </a:ext>
                </a:extLst>
              </p:cNvPr>
              <p:cNvSpPr txBox="1"/>
              <p:nvPr/>
            </p:nvSpPr>
            <p:spPr>
              <a:xfrm>
                <a:off x="12668250" y="15799264"/>
                <a:ext cx="4206240" cy="1374735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>
                  <a:spcBef>
                    <a:spcPts val="0"/>
                  </a:spcBef>
                  <a:spcAft>
                    <a:spcPts val="400"/>
                  </a:spcAft>
                </a:pPr>
                <a:r>
                  <a:rPr sz="4000" b="1" dirty="0">
                    <a:solidFill>
                      <a:srgbClr val="0D5C63"/>
                    </a:solidFill>
                    <a:latin typeface="Calibri"/>
                  </a:rPr>
                  <a:t>Deal</a:t>
                </a:r>
              </a:p>
              <a:p>
                <a:pPr algn="ctr">
                  <a:spcBef>
                    <a:spcPts val="0"/>
                  </a:spcBef>
                  <a:spcAft>
                    <a:spcPts val="400"/>
                  </a:spcAft>
                </a:pPr>
                <a:r>
                  <a:rPr sz="4000" b="1" dirty="0">
                    <a:solidFill>
                      <a:srgbClr val="0D5C63"/>
                    </a:solidFill>
                    <a:latin typeface="Calibri"/>
                  </a:rPr>
                  <a:t>Extraction</a:t>
                </a:r>
              </a:p>
            </p:txBody>
          </p:sp>
        </p:grpSp>
        <p:grpSp>
          <p:nvGrpSpPr>
            <p:cNvPr id="209" name="Group 208">
              <a:extLst>
                <a:ext uri="{FF2B5EF4-FFF2-40B4-BE49-F238E27FC236}">
                  <a16:creationId xmlns:a16="http://schemas.microsoft.com/office/drawing/2014/main" id="{A636007A-2C95-F28F-996A-6E22349465A3}"/>
                </a:ext>
              </a:extLst>
            </p:cNvPr>
            <p:cNvGrpSpPr/>
            <p:nvPr/>
          </p:nvGrpSpPr>
          <p:grpSpPr>
            <a:xfrm>
              <a:off x="14054948" y="10995584"/>
              <a:ext cx="15660000" cy="4261352"/>
              <a:chOff x="2609850" y="7118092"/>
              <a:chExt cx="9964634" cy="6121658"/>
            </a:xfrm>
          </p:grpSpPr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F31C4B61-7005-A85C-8E6D-CDEB4C6DA539}"/>
                  </a:ext>
                </a:extLst>
              </p:cNvPr>
              <p:cNvSpPr txBox="1"/>
              <p:nvPr/>
            </p:nvSpPr>
            <p:spPr>
              <a:xfrm>
                <a:off x="2919458" y="7208624"/>
                <a:ext cx="8286750" cy="1459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000" b="1" dirty="0">
                    <a:solidFill>
                      <a:srgbClr val="001750"/>
                    </a:solidFill>
                    <a:latin typeface="Times New Roman"/>
                  </a:rPr>
                  <a:t>Architecture</a:t>
                </a:r>
                <a:endParaRPr lang="he-IL" sz="6000" b="1" dirty="0">
                  <a:solidFill>
                    <a:srgbClr val="001750"/>
                  </a:solidFill>
                  <a:latin typeface="Times New Roman"/>
                </a:endParaRPr>
              </a:p>
            </p:txBody>
          </p:sp>
          <p:sp>
            <p:nvSpPr>
              <p:cNvPr id="211" name="Rectangle: Rounded Corners 210">
                <a:extLst>
                  <a:ext uri="{FF2B5EF4-FFF2-40B4-BE49-F238E27FC236}">
                    <a16:creationId xmlns:a16="http://schemas.microsoft.com/office/drawing/2014/main" id="{037FD745-88F2-4E87-5171-174FDD40702A}"/>
                  </a:ext>
                </a:extLst>
              </p:cNvPr>
              <p:cNvSpPr/>
              <p:nvPr/>
            </p:nvSpPr>
            <p:spPr>
              <a:xfrm>
                <a:off x="2609850" y="7118092"/>
                <a:ext cx="9964634" cy="6121658"/>
              </a:xfrm>
              <a:prstGeom prst="roundRect">
                <a:avLst>
                  <a:gd name="adj" fmla="val 5983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cxnSp>
            <p:nvCxnSpPr>
              <p:cNvPr id="212" name="Straight Connector 211">
                <a:extLst>
                  <a:ext uri="{FF2B5EF4-FFF2-40B4-BE49-F238E27FC236}">
                    <a16:creationId xmlns:a16="http://schemas.microsoft.com/office/drawing/2014/main" id="{7E8B9A0D-92FF-C75D-E956-B5CC074B784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09850" y="8776164"/>
                <a:ext cx="9964634" cy="33963"/>
              </a:xfrm>
              <a:prstGeom prst="line">
                <a:avLst/>
              </a:prstGeom>
              <a:ln>
                <a:solidFill>
                  <a:srgbClr val="0017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78A76CF-AC8D-D8B2-690A-A9AE4DF80107}"/>
              </a:ext>
            </a:extLst>
          </p:cNvPr>
          <p:cNvGrpSpPr/>
          <p:nvPr/>
        </p:nvGrpSpPr>
        <p:grpSpPr>
          <a:xfrm>
            <a:off x="823743" y="24444492"/>
            <a:ext cx="15572194" cy="4598066"/>
            <a:chOff x="15179311" y="28854450"/>
            <a:chExt cx="12538925" cy="4598066"/>
          </a:xfrm>
        </p:grpSpPr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42DFD89E-88F3-AB08-E5C8-126DDDAC58F1}"/>
                </a:ext>
              </a:extLst>
            </p:cNvPr>
            <p:cNvSpPr txBox="1"/>
            <p:nvPr/>
          </p:nvSpPr>
          <p:spPr>
            <a:xfrm>
              <a:off x="15554908" y="30436306"/>
              <a:ext cx="11586841" cy="301621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spcBef>
                  <a:spcPts val="0"/>
                </a:spcBef>
                <a:spcAft>
                  <a:spcPts val="1200"/>
                </a:spcAft>
              </a:pPr>
              <a:r>
                <a:rPr sz="4000" b="1" dirty="0">
                  <a:solidFill>
                    <a:srgbClr val="001750"/>
                  </a:solidFill>
                  <a:latin typeface="Calibri"/>
                </a:rPr>
                <a:t>Catastrophe floor near deadline</a:t>
              </a:r>
            </a:p>
            <a:p>
              <a:pPr>
                <a:spcBef>
                  <a:spcPts val="0"/>
                </a:spcBef>
                <a:spcAft>
                  <a:spcPts val="1200"/>
                </a:spcAft>
              </a:pPr>
              <a:r>
                <a:rPr sz="4000" b="1" dirty="0">
                  <a:solidFill>
                    <a:srgbClr val="001750"/>
                  </a:solidFill>
                  <a:latin typeface="Calibri"/>
                </a:rPr>
                <a:t>Mode aspiration </a:t>
              </a:r>
              <a:r>
                <a:rPr lang="he-IL" sz="4000" b="1" dirty="0">
                  <a:solidFill>
                    <a:srgbClr val="001750"/>
                  </a:solidFill>
                  <a:latin typeface="Calibri"/>
                </a:rPr>
                <a:t>-</a:t>
              </a:r>
              <a:r>
                <a:rPr sz="4000" b="1" dirty="0">
                  <a:solidFill>
                    <a:srgbClr val="001750"/>
                  </a:solidFill>
                  <a:latin typeface="Calibri"/>
                </a:rPr>
                <a:t> slope follows opponent mode</a:t>
              </a:r>
            </a:p>
            <a:p>
              <a:pPr>
                <a:spcBef>
                  <a:spcPts val="0"/>
                </a:spcBef>
                <a:spcAft>
                  <a:spcPts val="1200"/>
                </a:spcAft>
              </a:pPr>
              <a:r>
                <a:rPr sz="4000" b="1" dirty="0">
                  <a:solidFill>
                    <a:srgbClr val="001750"/>
                  </a:solidFill>
                  <a:latin typeface="Calibri"/>
                </a:rPr>
                <a:t>AC-next </a:t>
              </a:r>
              <a:r>
                <a:rPr lang="he-IL" sz="4000" b="1" dirty="0">
                  <a:solidFill>
                    <a:srgbClr val="001750"/>
                  </a:solidFill>
                  <a:latin typeface="Calibri"/>
                </a:rPr>
                <a:t>-</a:t>
              </a:r>
              <a:r>
                <a:rPr sz="4000" b="1" dirty="0">
                  <a:solidFill>
                    <a:srgbClr val="001750"/>
                  </a:solidFill>
                  <a:latin typeface="Calibri"/>
                </a:rPr>
                <a:t> as good as our next concealing bid</a:t>
              </a:r>
            </a:p>
            <a:p>
              <a:pPr>
                <a:spcBef>
                  <a:spcPts val="0"/>
                </a:spcBef>
                <a:spcAft>
                  <a:spcPts val="1200"/>
                </a:spcAft>
              </a:pPr>
              <a:r>
                <a:rPr sz="4000" b="1" dirty="0">
                  <a:solidFill>
                    <a:srgbClr val="C00000"/>
                  </a:solidFill>
                  <a:latin typeface="Calibri"/>
                </a:rPr>
                <a:t>Bait guard </a:t>
              </a:r>
              <a:r>
                <a:rPr lang="he-IL" sz="4000" b="1" dirty="0">
                  <a:solidFill>
                    <a:srgbClr val="C00000"/>
                  </a:solidFill>
                  <a:latin typeface="Calibri"/>
                </a:rPr>
                <a:t>-</a:t>
              </a:r>
              <a:r>
                <a:rPr sz="4000" b="1" dirty="0">
                  <a:solidFill>
                    <a:srgbClr val="C00000"/>
                  </a:solidFill>
                  <a:latin typeface="Calibri"/>
                </a:rPr>
                <a:t> block deceptive utility spikes</a:t>
              </a:r>
            </a:p>
          </p:txBody>
        </p: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2479FDB0-B02E-779A-7674-5EA80D21FE06}"/>
                </a:ext>
              </a:extLst>
            </p:cNvPr>
            <p:cNvGrpSpPr/>
            <p:nvPr/>
          </p:nvGrpSpPr>
          <p:grpSpPr>
            <a:xfrm>
              <a:off x="15179311" y="28854450"/>
              <a:ext cx="12538925" cy="4595649"/>
              <a:chOff x="2609850" y="7118092"/>
              <a:chExt cx="10335935" cy="6121658"/>
            </a:xfrm>
          </p:grpSpPr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7F3C2526-C362-84DD-2239-90551649A73F}"/>
                  </a:ext>
                </a:extLst>
              </p:cNvPr>
              <p:cNvSpPr txBox="1"/>
              <p:nvPr/>
            </p:nvSpPr>
            <p:spPr>
              <a:xfrm>
                <a:off x="2919458" y="7320735"/>
                <a:ext cx="8286750" cy="965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6000" b="1" dirty="0">
                    <a:solidFill>
                      <a:srgbClr val="001750"/>
                    </a:solidFill>
                    <a:latin typeface="Times New Roman"/>
                  </a:rPr>
                  <a:t>Acceptance</a:t>
                </a:r>
                <a:endParaRPr lang="he-IL" sz="6000" b="1" dirty="0">
                  <a:solidFill>
                    <a:srgbClr val="001750"/>
                  </a:solidFill>
                  <a:latin typeface="Times New Roman"/>
                </a:endParaRPr>
              </a:p>
            </p:txBody>
          </p:sp>
          <p:sp>
            <p:nvSpPr>
              <p:cNvPr id="227" name="Rectangle: Rounded Corners 226">
                <a:extLst>
                  <a:ext uri="{FF2B5EF4-FFF2-40B4-BE49-F238E27FC236}">
                    <a16:creationId xmlns:a16="http://schemas.microsoft.com/office/drawing/2014/main" id="{ABB469F3-657A-FB60-4E8E-441C73599D64}"/>
                  </a:ext>
                </a:extLst>
              </p:cNvPr>
              <p:cNvSpPr/>
              <p:nvPr/>
            </p:nvSpPr>
            <p:spPr>
              <a:xfrm>
                <a:off x="2609850" y="7118092"/>
                <a:ext cx="10317119" cy="6121658"/>
              </a:xfrm>
              <a:prstGeom prst="roundRect">
                <a:avLst>
                  <a:gd name="adj" fmla="val 5983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/>
                <a:endParaRPr lang="he-IL" dirty="0"/>
              </a:p>
            </p:txBody>
          </p: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D8CA1E65-9DC8-474F-3211-CC310C1999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28667" y="8962850"/>
                <a:ext cx="10317118" cy="33963"/>
              </a:xfrm>
              <a:prstGeom prst="line">
                <a:avLst/>
              </a:prstGeom>
              <a:ln>
                <a:solidFill>
                  <a:srgbClr val="0017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7A361A8-CA12-C976-38CD-D51E8496AAAB}"/>
              </a:ext>
            </a:extLst>
          </p:cNvPr>
          <p:cNvGrpSpPr/>
          <p:nvPr/>
        </p:nvGrpSpPr>
        <p:grpSpPr>
          <a:xfrm>
            <a:off x="735937" y="5054453"/>
            <a:ext cx="15660000" cy="6278131"/>
            <a:chOff x="1324592" y="5437062"/>
            <a:chExt cx="14191543" cy="6278131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8C9B5C63-E482-B17E-680B-6D03F8049B63}"/>
                </a:ext>
              </a:extLst>
            </p:cNvPr>
            <p:cNvGrpSpPr/>
            <p:nvPr/>
          </p:nvGrpSpPr>
          <p:grpSpPr>
            <a:xfrm>
              <a:off x="1326608" y="5437062"/>
              <a:ext cx="14173981" cy="6278131"/>
              <a:chOff x="2609849" y="7118092"/>
              <a:chExt cx="14173981" cy="6278131"/>
            </a:xfrm>
          </p:grpSpPr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6BA0CB0C-2714-6C8E-D38C-0B215DF8DF07}"/>
                  </a:ext>
                </a:extLst>
              </p:cNvPr>
              <p:cNvGrpSpPr/>
              <p:nvPr/>
            </p:nvGrpSpPr>
            <p:grpSpPr>
              <a:xfrm>
                <a:off x="2609849" y="7118092"/>
                <a:ext cx="14173981" cy="6121658"/>
                <a:chOff x="2609849" y="7118092"/>
                <a:chExt cx="14173981" cy="6121658"/>
              </a:xfrm>
            </p:grpSpPr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CA79FE77-8498-86A5-C3C8-C884577FFE11}"/>
                    </a:ext>
                  </a:extLst>
                </p:cNvPr>
                <p:cNvSpPr txBox="1"/>
                <p:nvPr/>
              </p:nvSpPr>
              <p:spPr>
                <a:xfrm>
                  <a:off x="2919458" y="7208623"/>
                  <a:ext cx="8286750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he-IL" sz="6000" b="1" dirty="0" err="1">
                      <a:solidFill>
                        <a:srgbClr val="001750"/>
                      </a:solidFill>
                      <a:latin typeface="Times New Roman"/>
                    </a:rPr>
                    <a:t>The</a:t>
                  </a:r>
                  <a:r>
                    <a:rPr lang="he-IL" b="1" i="0" dirty="0">
                      <a:solidFill>
                        <a:srgbClr val="001750"/>
                      </a:solidFill>
                      <a:effectLst/>
                    </a:rPr>
                    <a:t> </a:t>
                  </a:r>
                  <a:r>
                    <a:rPr lang="he-IL" sz="6000" b="1" dirty="0" err="1">
                      <a:solidFill>
                        <a:srgbClr val="001750"/>
                      </a:solidFill>
                      <a:latin typeface="Times New Roman"/>
                    </a:rPr>
                    <a:t>Goal</a:t>
                  </a:r>
                  <a:endParaRPr lang="he-IL" sz="6000" b="1" dirty="0">
                    <a:solidFill>
                      <a:srgbClr val="001750"/>
                    </a:solidFill>
                    <a:latin typeface="Times New Roman"/>
                  </a:endParaRPr>
                </a:p>
              </p:txBody>
            </p:sp>
            <p:sp>
              <p:nvSpPr>
                <p:cNvPr id="95" name="Rectangle: Rounded Corners 94">
                  <a:extLst>
                    <a:ext uri="{FF2B5EF4-FFF2-40B4-BE49-F238E27FC236}">
                      <a16:creationId xmlns:a16="http://schemas.microsoft.com/office/drawing/2014/main" id="{E7F16499-64C2-09D2-D41B-959F791BE28F}"/>
                    </a:ext>
                  </a:extLst>
                </p:cNvPr>
                <p:cNvSpPr/>
                <p:nvPr/>
              </p:nvSpPr>
              <p:spPr>
                <a:xfrm>
                  <a:off x="2609849" y="7118092"/>
                  <a:ext cx="14173981" cy="6121658"/>
                </a:xfrm>
                <a:prstGeom prst="roundRect">
                  <a:avLst>
                    <a:gd name="adj" fmla="val 5983"/>
                  </a:avLst>
                </a:prstGeom>
                <a:noFill/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/>
                </a:p>
              </p:txBody>
            </p: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C83D5554-DA8C-CE29-12CB-F4D48A9162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609850" y="8303002"/>
                  <a:ext cx="14173980" cy="0"/>
                </a:xfrm>
                <a:prstGeom prst="line">
                  <a:avLst/>
                </a:prstGeom>
                <a:ln>
                  <a:solidFill>
                    <a:srgbClr val="0017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99" name="Picture 98">
                <a:extLst>
                  <a:ext uri="{FF2B5EF4-FFF2-40B4-BE49-F238E27FC236}">
                    <a16:creationId xmlns:a16="http://schemas.microsoft.com/office/drawing/2014/main" id="{3AAAF70B-0760-5E89-ED03-818E0BCE25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985957" y="8350587"/>
                <a:ext cx="11421767" cy="5045636"/>
              </a:xfrm>
              <a:prstGeom prst="rect">
                <a:avLst/>
              </a:prstGeom>
            </p:spPr>
          </p:pic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4EEDBF0C-AF64-18D9-8BD2-996B5431A694}"/>
                </a:ext>
              </a:extLst>
            </p:cNvPr>
            <p:cNvGrpSpPr/>
            <p:nvPr/>
          </p:nvGrpSpPr>
          <p:grpSpPr>
            <a:xfrm>
              <a:off x="1324592" y="9655668"/>
              <a:ext cx="14175215" cy="1928045"/>
              <a:chOff x="-6922645" y="8728640"/>
              <a:chExt cx="14184750" cy="1928045"/>
            </a:xfrm>
          </p:grpSpPr>
          <p:sp>
            <p:nvSpPr>
              <p:cNvPr id="243" name="Rectangle: Rounded Corners 242">
                <a:extLst>
                  <a:ext uri="{FF2B5EF4-FFF2-40B4-BE49-F238E27FC236}">
                    <a16:creationId xmlns:a16="http://schemas.microsoft.com/office/drawing/2014/main" id="{A6710981-C54F-FCF6-EB79-A3535979B69B}"/>
                  </a:ext>
                </a:extLst>
              </p:cNvPr>
              <p:cNvSpPr/>
              <p:nvPr/>
            </p:nvSpPr>
            <p:spPr>
              <a:xfrm>
                <a:off x="-6920629" y="8793511"/>
                <a:ext cx="14182734" cy="1863174"/>
              </a:xfrm>
              <a:prstGeom prst="roundRect">
                <a:avLst>
                  <a:gd name="adj" fmla="val 19004"/>
                </a:avLst>
              </a:prstGeom>
              <a:gradFill flip="none" rotWithShape="1">
                <a:gsLst>
                  <a:gs pos="100000">
                    <a:schemeClr val="tx1"/>
                  </a:gs>
                  <a:gs pos="42000">
                    <a:srgbClr val="001750"/>
                  </a:gs>
                </a:gsLst>
                <a:lin ang="5400000" scaled="1"/>
                <a:tileRect/>
              </a:gra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en-US" sz="4000" b="1" dirty="0">
                  <a:solidFill>
                    <a:schemeClr val="bg1"/>
                  </a:solidFill>
                </a:endParaRPr>
              </a:p>
              <a:p>
                <a:pPr algn="ctr"/>
                <a:r>
                  <a:rPr lang="en-US" sz="4000" b="1" dirty="0">
                    <a:solidFill>
                      <a:schemeClr val="bg1"/>
                    </a:solidFill>
                  </a:rPr>
                  <a:t>Design principle: concealment first, then extract the deal</a:t>
                </a:r>
              </a:p>
              <a:p>
                <a:pPr algn="ctr"/>
                <a:endParaRPr lang="he-IL" dirty="0"/>
              </a:p>
            </p:txBody>
          </p:sp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4D9C5E42-84B2-12EF-B498-72A33C0DED61}"/>
                  </a:ext>
                </a:extLst>
              </p:cNvPr>
              <p:cNvSpPr/>
              <p:nvPr/>
            </p:nvSpPr>
            <p:spPr>
              <a:xfrm>
                <a:off x="-6922645" y="8728640"/>
                <a:ext cx="14157518" cy="5368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577B5A8A-B88B-798C-11E3-AEFF1B0D3870}"/>
                </a:ext>
              </a:extLst>
            </p:cNvPr>
            <p:cNvSpPr/>
            <p:nvPr/>
          </p:nvSpPr>
          <p:spPr>
            <a:xfrm>
              <a:off x="1326607" y="5438295"/>
              <a:ext cx="14189528" cy="6145200"/>
            </a:xfrm>
            <a:prstGeom prst="roundRect">
              <a:avLst>
                <a:gd name="adj" fmla="val 5983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E6FF08E-40C1-B560-9DC9-5731167BC5D9}"/>
              </a:ext>
            </a:extLst>
          </p:cNvPr>
          <p:cNvGrpSpPr/>
          <p:nvPr/>
        </p:nvGrpSpPr>
        <p:grpSpPr>
          <a:xfrm>
            <a:off x="735937" y="16655727"/>
            <a:ext cx="15725195" cy="7300680"/>
            <a:chOff x="1326608" y="19050855"/>
            <a:chExt cx="15725195" cy="7300680"/>
          </a:xfrm>
        </p:grpSpPr>
        <p:grpSp>
          <p:nvGrpSpPr>
            <p:cNvPr id="199" name="Group 198">
              <a:extLst>
                <a:ext uri="{FF2B5EF4-FFF2-40B4-BE49-F238E27FC236}">
                  <a16:creationId xmlns:a16="http://schemas.microsoft.com/office/drawing/2014/main" id="{0A518E69-2BA6-DDE1-EBAE-419B4343F97B}"/>
                </a:ext>
              </a:extLst>
            </p:cNvPr>
            <p:cNvGrpSpPr/>
            <p:nvPr/>
          </p:nvGrpSpPr>
          <p:grpSpPr>
            <a:xfrm>
              <a:off x="1326608" y="19061479"/>
              <a:ext cx="15725195" cy="6477343"/>
              <a:chOff x="2609850" y="17863114"/>
              <a:chExt cx="15725195" cy="6477343"/>
            </a:xfrm>
          </p:grpSpPr>
          <p:pic>
            <p:nvPicPr>
              <p:cNvPr id="125" name="Picture 124">
                <a:extLst>
                  <a:ext uri="{FF2B5EF4-FFF2-40B4-BE49-F238E27FC236}">
                    <a16:creationId xmlns:a16="http://schemas.microsoft.com/office/drawing/2014/main" id="{6E78E862-0B09-2C4A-9828-3E0F213AE1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243" t="10182" r="2504"/>
              <a:stretch>
                <a:fillRect/>
              </a:stretch>
            </p:blipFill>
            <p:spPr>
              <a:xfrm>
                <a:off x="2609850" y="20245367"/>
                <a:ext cx="15725195" cy="4095090"/>
              </a:xfrm>
              <a:prstGeom prst="rect">
                <a:avLst/>
              </a:prstGeom>
            </p:spPr>
          </p:pic>
          <p:sp>
            <p:nvSpPr>
              <p:cNvPr id="123" name="Rectangle: Rounded Corners 122">
                <a:extLst>
                  <a:ext uri="{FF2B5EF4-FFF2-40B4-BE49-F238E27FC236}">
                    <a16:creationId xmlns:a16="http://schemas.microsoft.com/office/drawing/2014/main" id="{B31E66CD-DFE8-C273-2AA7-D45FB706D534}"/>
                  </a:ext>
                </a:extLst>
              </p:cNvPr>
              <p:cNvSpPr/>
              <p:nvPr/>
            </p:nvSpPr>
            <p:spPr>
              <a:xfrm>
                <a:off x="2638878" y="17863114"/>
                <a:ext cx="15660000" cy="6395336"/>
              </a:xfrm>
              <a:prstGeom prst="roundRect">
                <a:avLst>
                  <a:gd name="adj" fmla="val 5983"/>
                </a:avLst>
              </a:prstGeom>
              <a:noFill/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r>
                  <a:rPr lang="en-US" sz="6000" b="1" dirty="0">
                    <a:solidFill>
                      <a:srgbClr val="001750"/>
                    </a:solidFill>
                    <a:latin typeface="Times New Roman"/>
                  </a:rPr>
                  <a:t>Bidding Persona</a:t>
                </a: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  <a:p>
                <a:endParaRPr lang="en-US" b="1" dirty="0">
                  <a:solidFill>
                    <a:srgbClr val="0B2C5E"/>
                  </a:solidFill>
                  <a:highlight>
                    <a:srgbClr val="FFFF00"/>
                  </a:highlight>
                  <a:latin typeface="Times New Roman"/>
                </a:endParaRPr>
              </a:p>
            </p:txBody>
          </p: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38F191B5-6F04-C348-CAA0-D9E25DD23B75}"/>
                  </a:ext>
                </a:extLst>
              </p:cNvPr>
              <p:cNvCxnSpPr/>
              <p:nvPr/>
            </p:nvCxnSpPr>
            <p:spPr>
              <a:xfrm>
                <a:off x="2638878" y="19216914"/>
                <a:ext cx="15660000" cy="0"/>
              </a:xfrm>
              <a:prstGeom prst="line">
                <a:avLst/>
              </a:prstGeom>
              <a:ln>
                <a:solidFill>
                  <a:srgbClr val="00175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0" name="Rectangle: Rounded Corners 249">
              <a:extLst>
                <a:ext uri="{FF2B5EF4-FFF2-40B4-BE49-F238E27FC236}">
                  <a16:creationId xmlns:a16="http://schemas.microsoft.com/office/drawing/2014/main" id="{AABF972C-4883-C47C-5D1C-CF880C59F3BC}"/>
                </a:ext>
              </a:extLst>
            </p:cNvPr>
            <p:cNvSpPr/>
            <p:nvPr/>
          </p:nvSpPr>
          <p:spPr>
            <a:xfrm>
              <a:off x="1355636" y="24785956"/>
              <a:ext cx="15672944" cy="1565579"/>
            </a:xfrm>
            <a:prstGeom prst="roundRect">
              <a:avLst>
                <a:gd name="adj" fmla="val 19004"/>
              </a:avLst>
            </a:prstGeom>
            <a:solidFill>
              <a:srgbClr val="00175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en-US" sz="4000" b="1" dirty="0">
                <a:solidFill>
                  <a:schemeClr val="bg1"/>
                </a:solidFill>
              </a:endParaRPr>
            </a:p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lang="en-US" sz="4000" b="1" dirty="0">
                  <a:solidFill>
                    <a:srgbClr val="FF0000"/>
                  </a:solidFill>
                </a:rPr>
                <a:t>Seat asymmetry: </a:t>
              </a:r>
              <a:r>
                <a:rPr lang="en-US" sz="4000" b="1" dirty="0">
                  <a:solidFill>
                    <a:schemeClr val="bg1"/>
                  </a:solidFill>
                </a:rPr>
                <a:t>opening seat keeps a longer decoy and stricter gates</a:t>
              </a:r>
            </a:p>
            <a:p>
              <a:pPr algn="ctr"/>
              <a:endParaRPr lang="he-IL" dirty="0"/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1158071C-A7CC-9C38-CCE6-7B14692FB827}"/>
                </a:ext>
              </a:extLst>
            </p:cNvPr>
            <p:cNvSpPr/>
            <p:nvPr/>
          </p:nvSpPr>
          <p:spPr>
            <a:xfrm>
              <a:off x="1366411" y="24705490"/>
              <a:ext cx="15638400" cy="5368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562040F6-90CB-6124-9760-89490AC994E1}"/>
                </a:ext>
              </a:extLst>
            </p:cNvPr>
            <p:cNvSpPr/>
            <p:nvPr/>
          </p:nvSpPr>
          <p:spPr>
            <a:xfrm>
              <a:off x="1349436" y="19050855"/>
              <a:ext cx="15672487" cy="7266666"/>
            </a:xfrm>
            <a:prstGeom prst="roundRect">
              <a:avLst>
                <a:gd name="adj" fmla="val 5983"/>
              </a:avLst>
            </a:prstGeom>
            <a:noFill/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endParaRPr lang="he-IL" dirty="0"/>
            </a:p>
          </p:txBody>
        </p:sp>
      </p:grpSp>
      <p:pic>
        <p:nvPicPr>
          <p:cNvPr id="8" name="Graphic 7" descr="Direction with solid fill">
            <a:extLst>
              <a:ext uri="{FF2B5EF4-FFF2-40B4-BE49-F238E27FC236}">
                <a16:creationId xmlns:a16="http://schemas.microsoft.com/office/drawing/2014/main" id="{D0BCC2C9-3B30-50D7-1A13-475FF1135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79332">
            <a:off x="19485316" y="14928675"/>
            <a:ext cx="615269" cy="49187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1" name="Graphic 10" descr="Direction with solid fill">
            <a:extLst>
              <a:ext uri="{FF2B5EF4-FFF2-40B4-BE49-F238E27FC236}">
                <a16:creationId xmlns:a16="http://schemas.microsoft.com/office/drawing/2014/main" id="{A499EA4C-5AB2-25E0-764F-55A90B58BC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79332">
            <a:off x="17578406" y="18524528"/>
            <a:ext cx="615269" cy="49187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2" name="Graphic 11" descr="Direction with solid fill">
            <a:extLst>
              <a:ext uri="{FF2B5EF4-FFF2-40B4-BE49-F238E27FC236}">
                <a16:creationId xmlns:a16="http://schemas.microsoft.com/office/drawing/2014/main" id="{90E0451D-3AE6-4DCE-E9C5-89E6DA2174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79332">
            <a:off x="17578406" y="20976238"/>
            <a:ext cx="615269" cy="49187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13" name="Graphic 12" descr="Direction with solid fill">
            <a:extLst>
              <a:ext uri="{FF2B5EF4-FFF2-40B4-BE49-F238E27FC236}">
                <a16:creationId xmlns:a16="http://schemas.microsoft.com/office/drawing/2014/main" id="{EF4E5BF5-C340-9B0A-058A-5F7211D25D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79332">
            <a:off x="17578406" y="22202093"/>
            <a:ext cx="615269" cy="49187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F967119A-EC3F-7216-4476-8ADD5CBAA208}"/>
              </a:ext>
            </a:extLst>
          </p:cNvPr>
          <p:cNvGrpSpPr/>
          <p:nvPr/>
        </p:nvGrpSpPr>
        <p:grpSpPr>
          <a:xfrm>
            <a:off x="17553268" y="16908034"/>
            <a:ext cx="14700761" cy="7326649"/>
            <a:chOff x="18505672" y="11939364"/>
            <a:chExt cx="13460035" cy="7326649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E4ACD9-5C6B-5C78-21E1-6E881B255ACF}"/>
                </a:ext>
              </a:extLst>
            </p:cNvPr>
            <p:cNvGrpSpPr/>
            <p:nvPr/>
          </p:nvGrpSpPr>
          <p:grpSpPr>
            <a:xfrm>
              <a:off x="18505672" y="11939364"/>
              <a:ext cx="13460035" cy="7326649"/>
              <a:chOff x="18505672" y="13235314"/>
              <a:chExt cx="13460035" cy="7326649"/>
            </a:xfrm>
          </p:grpSpPr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5435CF7-4956-CD8A-96B5-E994C73D4882}"/>
                  </a:ext>
                </a:extLst>
              </p:cNvPr>
              <p:cNvSpPr txBox="1"/>
              <p:nvPr/>
            </p:nvSpPr>
            <p:spPr>
              <a:xfrm>
                <a:off x="19134874" y="14799696"/>
                <a:ext cx="10871499" cy="5632311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en-US" sz="4000" b="1" dirty="0">
                    <a:solidFill>
                      <a:srgbClr val="001750"/>
                    </a:solidFill>
                    <a:latin typeface="Calibri"/>
                  </a:rPr>
                  <a:t>Conceding - Early decoy exit, chase agreement</a:t>
                </a:r>
              </a:p>
              <a:p>
                <a:endParaRPr lang="en-US" sz="4000" b="1" dirty="0">
                  <a:solidFill>
                    <a:srgbClr val="001750"/>
                  </a:solidFill>
                  <a:latin typeface="Calibri"/>
                </a:endParaRPr>
              </a:p>
              <a:p>
                <a:r>
                  <a:rPr lang="en-US" sz="4000" b="1" dirty="0">
                    <a:solidFill>
                      <a:srgbClr val="001750"/>
                    </a:solidFill>
                    <a:latin typeface="Calibri"/>
                  </a:rPr>
                  <a:t>Learner - Full blend, no bait discount</a:t>
                </a:r>
              </a:p>
              <a:p>
                <a:endParaRPr lang="en-US" sz="4000" b="1" dirty="0">
                  <a:solidFill>
                    <a:srgbClr val="001750"/>
                  </a:solidFill>
                  <a:latin typeface="Calibri"/>
                </a:endParaRPr>
              </a:p>
              <a:p>
                <a:r>
                  <a:rPr lang="en-US" sz="4000" b="1" dirty="0">
                    <a:solidFill>
                      <a:srgbClr val="001750"/>
                    </a:solidFill>
                    <a:latin typeface="Calibri"/>
                  </a:rPr>
                  <a:t>Deceptive - Discount Smith, reject bait</a:t>
                </a:r>
              </a:p>
              <a:p>
                <a:endParaRPr lang="en-US" sz="4000" b="1" dirty="0">
                  <a:solidFill>
                    <a:srgbClr val="001750"/>
                  </a:solidFill>
                  <a:latin typeface="Calibri"/>
                </a:endParaRPr>
              </a:p>
              <a:p>
                <a:r>
                  <a:rPr lang="en-US" sz="4000" b="1" dirty="0">
                    <a:solidFill>
                      <a:srgbClr val="001750"/>
                    </a:solidFill>
                    <a:latin typeface="Calibri"/>
                  </a:rPr>
                  <a:t>Mirro - Plain Smith, anti-mirror bids</a:t>
                </a:r>
              </a:p>
              <a:p>
                <a:endParaRPr lang="en-US" sz="4000" b="1" dirty="0">
                  <a:solidFill>
                    <a:srgbClr val="001750"/>
                  </a:solidFill>
                  <a:latin typeface="Calibri"/>
                </a:endParaRPr>
              </a:p>
              <a:p>
                <a:r>
                  <a:rPr lang="en-US" sz="4000" b="1" dirty="0">
                    <a:solidFill>
                      <a:srgbClr val="001750"/>
                    </a:solidFill>
                    <a:latin typeface="Calibri"/>
                  </a:rPr>
                  <a:t>Unknown - Conservative full blend</a:t>
                </a:r>
                <a:endParaRPr lang="he-IL" sz="4000" b="1" dirty="0">
                  <a:solidFill>
                    <a:srgbClr val="001750"/>
                  </a:solidFill>
                  <a:latin typeface="Calibri"/>
                </a:endParaRPr>
              </a:p>
            </p:txBody>
          </p:sp>
          <p:grpSp>
            <p:nvGrpSpPr>
              <p:cNvPr id="184" name="Group 183">
                <a:extLst>
                  <a:ext uri="{FF2B5EF4-FFF2-40B4-BE49-F238E27FC236}">
                    <a16:creationId xmlns:a16="http://schemas.microsoft.com/office/drawing/2014/main" id="{EC213449-938F-D437-1C5A-F9F12525A2B9}"/>
                  </a:ext>
                </a:extLst>
              </p:cNvPr>
              <p:cNvGrpSpPr/>
              <p:nvPr/>
            </p:nvGrpSpPr>
            <p:grpSpPr>
              <a:xfrm>
                <a:off x="18505672" y="13235314"/>
                <a:ext cx="13460035" cy="7326649"/>
                <a:chOff x="2187651" y="7118092"/>
                <a:chExt cx="10819561" cy="6121658"/>
              </a:xfrm>
            </p:grpSpPr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A6B74407-BA8B-3664-379D-7A027CF5D320}"/>
                    </a:ext>
                  </a:extLst>
                </p:cNvPr>
                <p:cNvSpPr txBox="1"/>
                <p:nvPr/>
              </p:nvSpPr>
              <p:spPr>
                <a:xfrm>
                  <a:off x="2919458" y="7208623"/>
                  <a:ext cx="8286750" cy="101566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6000" b="1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1750"/>
                      </a:solidFill>
                      <a:effectLst/>
                      <a:uLnTx/>
                      <a:uFillTx/>
                      <a:latin typeface="Times New Roman"/>
                      <a:ea typeface="+mn-ea"/>
                      <a:cs typeface="+mn-cs"/>
                    </a:rPr>
                    <a:t>Mode Response</a:t>
                  </a:r>
                </a:p>
              </p:txBody>
            </p:sp>
            <p:sp>
              <p:nvSpPr>
                <p:cNvPr id="186" name="Rectangle: Rounded Corners 185">
                  <a:extLst>
                    <a:ext uri="{FF2B5EF4-FFF2-40B4-BE49-F238E27FC236}">
                      <a16:creationId xmlns:a16="http://schemas.microsoft.com/office/drawing/2014/main" id="{9F065789-2118-5119-E02C-57BBCFE5C136}"/>
                    </a:ext>
                  </a:extLst>
                </p:cNvPr>
                <p:cNvSpPr/>
                <p:nvPr/>
              </p:nvSpPr>
              <p:spPr>
                <a:xfrm>
                  <a:off x="2187651" y="7118092"/>
                  <a:ext cx="10819561" cy="6121658"/>
                </a:xfrm>
                <a:prstGeom prst="roundRect">
                  <a:avLst>
                    <a:gd name="adj" fmla="val 5983"/>
                  </a:avLst>
                </a:prstGeom>
                <a:noFill/>
                <a:ln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/>
                  <a:endParaRPr lang="he-IL" dirty="0"/>
                </a:p>
              </p:txBody>
            </p: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D0DE52BA-B388-ACF6-D04B-97384EED95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187651" y="8224286"/>
                  <a:ext cx="10819561" cy="44753"/>
                </a:xfrm>
                <a:prstGeom prst="line">
                  <a:avLst/>
                </a:prstGeom>
                <a:ln>
                  <a:solidFill>
                    <a:srgbClr val="0017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14" name="Graphic 13" descr="Direction with solid fill">
              <a:extLst>
                <a:ext uri="{FF2B5EF4-FFF2-40B4-BE49-F238E27FC236}">
                  <a16:creationId xmlns:a16="http://schemas.microsoft.com/office/drawing/2014/main" id="{CA837839-19DC-F34B-85C0-FFC7ED252A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2479332">
              <a:off x="18517389" y="18501633"/>
              <a:ext cx="615269" cy="491877"/>
            </a:xfrm>
            <a:prstGeom prst="rect">
              <a:avLst/>
            </a:prstGeom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13A68D6-AE31-7BBB-1095-EB2BFF997B56}"/>
              </a:ext>
            </a:extLst>
          </p:cNvPr>
          <p:cNvSpPr txBox="1"/>
          <p:nvPr/>
        </p:nvSpPr>
        <p:spPr>
          <a:xfrm>
            <a:off x="17886039" y="30769036"/>
            <a:ext cx="14367989" cy="19389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</a:pPr>
            <a:r>
              <a:rPr lang="en-US" sz="4000" b="1" dirty="0">
                <a:solidFill>
                  <a:srgbClr val="C00000"/>
                </a:solidFill>
              </a:rPr>
              <a:t>Overall 71% wins in in-house evaluations, in the ANL 2026 qualification the agent reached the 32</a:t>
            </a:r>
            <a:r>
              <a:rPr lang="en-US" sz="4000" b="1" baseline="30000" dirty="0">
                <a:solidFill>
                  <a:srgbClr val="C00000"/>
                </a:solidFill>
              </a:rPr>
              <a:t>nd</a:t>
            </a:r>
            <a:r>
              <a:rPr lang="en-US" sz="4000" b="1" dirty="0">
                <a:solidFill>
                  <a:srgbClr val="C00000"/>
                </a:solidFill>
              </a:rPr>
              <a:t> place and didn’t reach the finals.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CEC7B3-4D2D-69DE-1198-8F730B71948E}"/>
              </a:ext>
            </a:extLst>
          </p:cNvPr>
          <p:cNvSpPr txBox="1"/>
          <p:nvPr/>
        </p:nvSpPr>
        <p:spPr>
          <a:xfrm>
            <a:off x="17776318" y="6862709"/>
            <a:ext cx="14406145" cy="28110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4000" b="0" dirty="0">
                <a:solidFill>
                  <a:srgbClr val="1A1A1A"/>
                </a:solidFill>
                <a:latin typeface="Calibri"/>
              </a:rPr>
              <a:t>Inference uses only the bid stream, relative time, and seat.</a:t>
            </a:r>
            <a:endParaRPr lang="he-IL" sz="4000" b="0" dirty="0">
              <a:solidFill>
                <a:srgbClr val="1A1A1A"/>
              </a:solidFill>
              <a:latin typeface="Calibri"/>
            </a:endParaRP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4000" b="1" dirty="0">
                <a:solidFill>
                  <a:srgbClr val="C00000"/>
                </a:solidFill>
                <a:latin typeface="Calibri"/>
              </a:rPr>
              <a:t>Never</a:t>
            </a:r>
            <a:r>
              <a:rPr sz="4000" b="0" dirty="0">
                <a:solidFill>
                  <a:srgbClr val="1A1A1A"/>
                </a:solidFill>
                <a:latin typeface="Calibri"/>
              </a:rPr>
              <a:t> read opponent class or true utility.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4000" b="1" dirty="0">
                <a:solidFill>
                  <a:srgbClr val="1A1A1A"/>
                </a:solidFill>
                <a:latin typeface="Calibri"/>
              </a:rPr>
              <a:t>Base: </a:t>
            </a:r>
            <a:r>
              <a:rPr sz="4000" b="0" dirty="0">
                <a:solidFill>
                  <a:srgbClr val="1A1A1A"/>
                </a:solidFill>
                <a:latin typeface="Calibri"/>
              </a:rPr>
              <a:t>Smith frequency model </a:t>
            </a:r>
            <a:r>
              <a:rPr lang="he-IL" sz="4000" b="0" dirty="0">
                <a:solidFill>
                  <a:srgbClr val="1A1A1A"/>
                </a:solidFill>
                <a:latin typeface="Calibri"/>
              </a:rPr>
              <a:t>-</a:t>
            </a:r>
            <a:r>
              <a:rPr sz="4000" b="0" dirty="0">
                <a:solidFill>
                  <a:srgbClr val="1A1A1A"/>
                </a:solidFill>
                <a:latin typeface="Calibri"/>
              </a:rPr>
              <a:t> value counts per issue → normalized utility estimate.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907FA3-DC55-D89D-AB08-956AAA656D6E}"/>
              </a:ext>
            </a:extLst>
          </p:cNvPr>
          <p:cNvGrpSpPr/>
          <p:nvPr/>
        </p:nvGrpSpPr>
        <p:grpSpPr>
          <a:xfrm>
            <a:off x="735697" y="29625339"/>
            <a:ext cx="15695555" cy="6442158"/>
            <a:chOff x="735697" y="29625339"/>
            <a:chExt cx="15695555" cy="6442158"/>
          </a:xfrm>
        </p:grpSpPr>
        <p:grpSp>
          <p:nvGrpSpPr>
            <p:cNvPr id="241" name="Group 240">
              <a:extLst>
                <a:ext uri="{FF2B5EF4-FFF2-40B4-BE49-F238E27FC236}">
                  <a16:creationId xmlns:a16="http://schemas.microsoft.com/office/drawing/2014/main" id="{8D36610A-FB1D-326A-2964-0499FEE0E402}"/>
                </a:ext>
              </a:extLst>
            </p:cNvPr>
            <p:cNvGrpSpPr/>
            <p:nvPr/>
          </p:nvGrpSpPr>
          <p:grpSpPr>
            <a:xfrm>
              <a:off x="735697" y="29625339"/>
              <a:ext cx="15695555" cy="6442158"/>
              <a:chOff x="14427698" y="28751623"/>
              <a:chExt cx="12088484" cy="6442158"/>
            </a:xfrm>
          </p:grpSpPr>
          <p:grpSp>
            <p:nvGrpSpPr>
              <p:cNvPr id="230" name="Group 229">
                <a:extLst>
                  <a:ext uri="{FF2B5EF4-FFF2-40B4-BE49-F238E27FC236}">
                    <a16:creationId xmlns:a16="http://schemas.microsoft.com/office/drawing/2014/main" id="{63AFBD3F-03A5-4F5A-1369-087D9E40C4BC}"/>
                  </a:ext>
                </a:extLst>
              </p:cNvPr>
              <p:cNvGrpSpPr/>
              <p:nvPr/>
            </p:nvGrpSpPr>
            <p:grpSpPr>
              <a:xfrm>
                <a:off x="14427698" y="28751623"/>
                <a:ext cx="12088484" cy="6442158"/>
                <a:chOff x="15179311" y="28854450"/>
                <a:chExt cx="12088484" cy="6442158"/>
              </a:xfrm>
              <a:solidFill>
                <a:srgbClr val="001750"/>
              </a:solidFill>
            </p:grpSpPr>
            <p:sp>
              <p:nvSpPr>
                <p:cNvPr id="231" name="TextBox 230">
                  <a:extLst>
                    <a:ext uri="{FF2B5EF4-FFF2-40B4-BE49-F238E27FC236}">
                      <a16:creationId xmlns:a16="http://schemas.microsoft.com/office/drawing/2014/main" id="{BD5E5D45-6C2F-396C-E771-F39143F28BFC}"/>
                    </a:ext>
                  </a:extLst>
                </p:cNvPr>
                <p:cNvSpPr txBox="1"/>
                <p:nvPr/>
              </p:nvSpPr>
              <p:spPr>
                <a:xfrm>
                  <a:off x="15554908" y="30436306"/>
                  <a:ext cx="11586841" cy="3016210"/>
                </a:xfrm>
                <a:prstGeom prst="rect">
                  <a:avLst/>
                </a:prstGeom>
                <a:grpFill/>
                <a:ln>
                  <a:solidFill>
                    <a:srgbClr val="001750"/>
                  </a:solidFill>
                </a:ln>
              </p:spPr>
              <p:txBody>
                <a:bodyPr wrap="square" anchor="t">
                  <a:spAutoFit/>
                </a:bodyPr>
                <a:lstStyle/>
                <a:p>
                  <a:pPr>
                    <a:spcBef>
                      <a:spcPts val="0"/>
                    </a:spcBef>
                    <a:spcAft>
                      <a:spcPts val="1200"/>
                    </a:spcAft>
                  </a:pPr>
                  <a:r>
                    <a:rPr sz="4000" b="1" dirty="0">
                      <a:solidFill>
                        <a:schemeClr val="bg1"/>
                      </a:solidFill>
                      <a:latin typeface="Calibri"/>
                    </a:rPr>
                    <a:t>Catastrophe floor near deadline</a:t>
                  </a:r>
                </a:p>
                <a:p>
                  <a:pPr>
                    <a:spcBef>
                      <a:spcPts val="0"/>
                    </a:spcBef>
                    <a:spcAft>
                      <a:spcPts val="1200"/>
                    </a:spcAft>
                  </a:pPr>
                  <a:r>
                    <a:rPr sz="4000" b="1" dirty="0">
                      <a:solidFill>
                        <a:schemeClr val="bg1"/>
                      </a:solidFill>
                      <a:latin typeface="Calibri"/>
                    </a:rPr>
                    <a:t>Mode aspiration </a:t>
                  </a:r>
                  <a:r>
                    <a:rPr lang="he-IL" sz="4000" b="1" dirty="0">
                      <a:solidFill>
                        <a:schemeClr val="bg1"/>
                      </a:solidFill>
                      <a:latin typeface="Calibri"/>
                    </a:rPr>
                    <a:t>-</a:t>
                  </a:r>
                  <a:r>
                    <a:rPr sz="4000" b="1" dirty="0">
                      <a:solidFill>
                        <a:schemeClr val="bg1"/>
                      </a:solidFill>
                      <a:latin typeface="Calibri"/>
                    </a:rPr>
                    <a:t> slope follows opponent mode</a:t>
                  </a:r>
                </a:p>
                <a:p>
                  <a:pPr>
                    <a:spcBef>
                      <a:spcPts val="0"/>
                    </a:spcBef>
                    <a:spcAft>
                      <a:spcPts val="1200"/>
                    </a:spcAft>
                  </a:pPr>
                  <a:r>
                    <a:rPr sz="4000" b="1" dirty="0">
                      <a:solidFill>
                        <a:schemeClr val="bg1"/>
                      </a:solidFill>
                      <a:latin typeface="Calibri"/>
                    </a:rPr>
                    <a:t>AC-next </a:t>
                  </a:r>
                  <a:r>
                    <a:rPr lang="he-IL" sz="4000" b="1" dirty="0">
                      <a:solidFill>
                        <a:schemeClr val="bg1"/>
                      </a:solidFill>
                      <a:latin typeface="Calibri"/>
                    </a:rPr>
                    <a:t>-</a:t>
                  </a:r>
                  <a:r>
                    <a:rPr sz="4000" b="1" dirty="0">
                      <a:solidFill>
                        <a:schemeClr val="bg1"/>
                      </a:solidFill>
                      <a:latin typeface="Calibri"/>
                    </a:rPr>
                    <a:t> as good as our next concealing bid</a:t>
                  </a:r>
                </a:p>
                <a:p>
                  <a:pPr>
                    <a:spcBef>
                      <a:spcPts val="0"/>
                    </a:spcBef>
                    <a:spcAft>
                      <a:spcPts val="1200"/>
                    </a:spcAft>
                  </a:pPr>
                  <a:r>
                    <a:rPr sz="4000" b="1" dirty="0">
                      <a:solidFill>
                        <a:schemeClr val="bg1"/>
                      </a:solidFill>
                      <a:latin typeface="Calibri"/>
                    </a:rPr>
                    <a:t>Bait guard </a:t>
                  </a:r>
                  <a:r>
                    <a:rPr lang="he-IL" sz="4000" b="1" dirty="0">
                      <a:solidFill>
                        <a:schemeClr val="bg1"/>
                      </a:solidFill>
                      <a:latin typeface="Calibri"/>
                    </a:rPr>
                    <a:t>-</a:t>
                  </a:r>
                  <a:r>
                    <a:rPr sz="4000" b="1" dirty="0">
                      <a:solidFill>
                        <a:schemeClr val="bg1"/>
                      </a:solidFill>
                      <a:latin typeface="Calibri"/>
                    </a:rPr>
                    <a:t> block deceptive utility spikes</a:t>
                  </a:r>
                </a:p>
              </p:txBody>
            </p:sp>
            <p:grpSp>
              <p:nvGrpSpPr>
                <p:cNvPr id="232" name="Group 231">
                  <a:extLst>
                    <a:ext uri="{FF2B5EF4-FFF2-40B4-BE49-F238E27FC236}">
                      <a16:creationId xmlns:a16="http://schemas.microsoft.com/office/drawing/2014/main" id="{8257A2ED-5278-2B88-E4BB-CE7FEE0ABACE}"/>
                    </a:ext>
                  </a:extLst>
                </p:cNvPr>
                <p:cNvGrpSpPr/>
                <p:nvPr/>
              </p:nvGrpSpPr>
              <p:grpSpPr>
                <a:xfrm>
                  <a:off x="15179311" y="28854450"/>
                  <a:ext cx="12088484" cy="6442158"/>
                  <a:chOff x="2609850" y="7118092"/>
                  <a:chExt cx="9964634" cy="8581310"/>
                </a:xfrm>
                <a:grpFill/>
              </p:grpSpPr>
              <p:sp>
                <p:nvSpPr>
                  <p:cNvPr id="233" name="TextBox 232">
                    <a:extLst>
                      <a:ext uri="{FF2B5EF4-FFF2-40B4-BE49-F238E27FC236}">
                        <a16:creationId xmlns:a16="http://schemas.microsoft.com/office/drawing/2014/main" id="{02D09215-DDA7-F4DF-DE9B-27584BE77691}"/>
                      </a:ext>
                    </a:extLst>
                  </p:cNvPr>
                  <p:cNvSpPr txBox="1"/>
                  <p:nvPr/>
                </p:nvSpPr>
                <p:spPr>
                  <a:xfrm>
                    <a:off x="2919458" y="7320735"/>
                    <a:ext cx="8286750" cy="1352919"/>
                  </a:xfrm>
                  <a:prstGeom prst="rect">
                    <a:avLst/>
                  </a:prstGeom>
                  <a:grpFill/>
                  <a:ln>
                    <a:solidFill>
                      <a:srgbClr val="001750"/>
                    </a:solidFill>
                  </a:ln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6000" b="1" dirty="0">
                        <a:solidFill>
                          <a:schemeClr val="bg1"/>
                        </a:solidFill>
                        <a:latin typeface="Times New Roman"/>
                      </a:rPr>
                      <a:t>Acceptance</a:t>
                    </a:r>
                    <a:endParaRPr lang="he-IL" sz="6000" b="1" dirty="0">
                      <a:solidFill>
                        <a:schemeClr val="bg1"/>
                      </a:solidFill>
                      <a:latin typeface="Times New Roman"/>
                    </a:endParaRPr>
                  </a:p>
                </p:txBody>
              </p:sp>
              <p:sp>
                <p:nvSpPr>
                  <p:cNvPr id="234" name="Rectangle: Rounded Corners 233">
                    <a:extLst>
                      <a:ext uri="{FF2B5EF4-FFF2-40B4-BE49-F238E27FC236}">
                        <a16:creationId xmlns:a16="http://schemas.microsoft.com/office/drawing/2014/main" id="{C5632F8F-5373-EC4D-9195-4E09704DB5D9}"/>
                      </a:ext>
                    </a:extLst>
                  </p:cNvPr>
                  <p:cNvSpPr/>
                  <p:nvPr/>
                </p:nvSpPr>
                <p:spPr>
                  <a:xfrm>
                    <a:off x="2609850" y="7118092"/>
                    <a:ext cx="9964634" cy="8581310"/>
                  </a:xfrm>
                  <a:prstGeom prst="roundRect">
                    <a:avLst>
                      <a:gd name="adj" fmla="val 5983"/>
                    </a:avLst>
                  </a:prstGeom>
                  <a:solidFill>
                    <a:schemeClr val="bg1"/>
                  </a:solidFill>
                  <a:ln>
                    <a:solidFill>
                      <a:srgbClr val="001750"/>
                    </a:solidFill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he-IL" dirty="0">
                      <a:solidFill>
                        <a:schemeClr val="bg1"/>
                      </a:solidFill>
                    </a:endParaRPr>
                  </a:p>
                </p:txBody>
              </p:sp>
              <p:cxnSp>
                <p:nvCxnSpPr>
                  <p:cNvPr id="235" name="Straight Connector 234">
                    <a:extLst>
                      <a:ext uri="{FF2B5EF4-FFF2-40B4-BE49-F238E27FC236}">
                        <a16:creationId xmlns:a16="http://schemas.microsoft.com/office/drawing/2014/main" id="{70A16024-13FE-C840-7938-3D653D133C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628667" y="8996813"/>
                    <a:ext cx="6023159" cy="22777"/>
                  </a:xfrm>
                  <a:prstGeom prst="line">
                    <a:avLst/>
                  </a:prstGeom>
                  <a:grpFill/>
                  <a:ln>
                    <a:solidFill>
                      <a:srgbClr val="00175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grpSp>
            <p:nvGrpSpPr>
              <p:cNvPr id="240" name="Group 239">
                <a:extLst>
                  <a:ext uri="{FF2B5EF4-FFF2-40B4-BE49-F238E27FC236}">
                    <a16:creationId xmlns:a16="http://schemas.microsoft.com/office/drawing/2014/main" id="{D730D7FA-6D8A-77C7-4015-1C8D729A48C4}"/>
                  </a:ext>
                </a:extLst>
              </p:cNvPr>
              <p:cNvGrpSpPr/>
              <p:nvPr/>
            </p:nvGrpSpPr>
            <p:grpSpPr>
              <a:xfrm>
                <a:off x="14603398" y="29078296"/>
                <a:ext cx="11912784" cy="4809527"/>
                <a:chOff x="14603398" y="29078296"/>
                <a:chExt cx="11912784" cy="4809527"/>
              </a:xfrm>
            </p:grpSpPr>
            <p:sp>
              <p:nvSpPr>
                <p:cNvPr id="237" name="TextBox 236">
                  <a:extLst>
                    <a:ext uri="{FF2B5EF4-FFF2-40B4-BE49-F238E27FC236}">
                      <a16:creationId xmlns:a16="http://schemas.microsoft.com/office/drawing/2014/main" id="{50CDE5FF-01F3-5BD2-A7F0-607520CF92E7}"/>
                    </a:ext>
                  </a:extLst>
                </p:cNvPr>
                <p:cNvSpPr txBox="1"/>
                <p:nvPr/>
              </p:nvSpPr>
              <p:spPr>
                <a:xfrm>
                  <a:off x="14603398" y="29078296"/>
                  <a:ext cx="11912784" cy="101566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>
                  <a:spAutoFit/>
                </a:bodyPr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lang="en-US" sz="6000" b="1" dirty="0">
                      <a:solidFill>
                        <a:srgbClr val="001750"/>
                      </a:solidFill>
                      <a:latin typeface="Times New Roman"/>
                    </a:rPr>
                    <a:t>What We Rejected</a:t>
                  </a:r>
                </a:p>
              </p:txBody>
            </p:sp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5B75D13F-AA60-2EAF-8AFE-4CC9513BD211}"/>
                    </a:ext>
                  </a:extLst>
                </p:cNvPr>
                <p:cNvSpPr txBox="1"/>
                <p:nvPr/>
              </p:nvSpPr>
              <p:spPr>
                <a:xfrm>
                  <a:off x="14693915" y="30179115"/>
                  <a:ext cx="6354572" cy="370870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anchor="t">
                  <a:spAutoFit/>
                </a:bodyPr>
                <a:lstStyle/>
                <a:p>
                  <a:pPr marL="571500" indent="-571500">
                    <a:spcBef>
                      <a:spcPts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4000" b="1" dirty="0">
                      <a:solidFill>
                        <a:srgbClr val="FF0000"/>
                      </a:solidFill>
                    </a:rPr>
                    <a:t>Reverse-psychology</a:t>
                  </a:r>
                  <a:r>
                    <a:rPr lang="en-US" sz="4000" b="1" dirty="0">
                      <a:solidFill>
                        <a:srgbClr val="111111"/>
                      </a:solidFill>
                    </a:rPr>
                    <a:t> </a:t>
                  </a:r>
                </a:p>
                <a:p>
                  <a:pPr lvl="1">
                    <a:spcAft>
                      <a:spcPts val="600"/>
                    </a:spcAft>
                  </a:pPr>
                  <a:r>
                    <a:rPr lang="en-US" sz="4000" b="1" dirty="0">
                      <a:solidFill>
                        <a:srgbClr val="001750"/>
                      </a:solidFill>
                    </a:rPr>
                    <a:t> </a:t>
                  </a:r>
                  <a:r>
                    <a:rPr lang="en-US" sz="3600" b="1" dirty="0">
                      <a:solidFill>
                        <a:srgbClr val="001750"/>
                      </a:solidFill>
                    </a:rPr>
                    <a:t>(truth early) </a:t>
                  </a:r>
                </a:p>
                <a:p>
                  <a:pPr lvl="1">
                    <a:spcAft>
                      <a:spcPts val="600"/>
                    </a:spcAft>
                  </a:pPr>
                  <a:r>
                    <a:rPr lang="en-US" sz="3600" b="1" dirty="0">
                      <a:solidFill>
                        <a:srgbClr val="001750"/>
                      </a:solidFill>
                    </a:rPr>
                    <a:t> hurts Concealing vs learners</a:t>
                  </a:r>
                  <a:endParaRPr lang="en-US" sz="4000" b="1" dirty="0">
                    <a:solidFill>
                      <a:srgbClr val="001750"/>
                    </a:solidFill>
                  </a:endParaRPr>
                </a:p>
                <a:p>
                  <a:pPr lvl="1">
                    <a:spcAft>
                      <a:spcPts val="600"/>
                    </a:spcAft>
                  </a:pPr>
                  <a:endParaRPr lang="en-US" b="1" dirty="0">
                    <a:solidFill>
                      <a:schemeClr val="bg1"/>
                    </a:solidFill>
                  </a:endParaRPr>
                </a:p>
                <a:p>
                  <a:pPr marL="571500" indent="-571500">
                    <a:spcBef>
                      <a:spcPts val="0"/>
                    </a:spcBef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:r>
                    <a:rPr lang="en-US" sz="4000" b="1" dirty="0">
                      <a:solidFill>
                        <a:srgbClr val="FF0000"/>
                      </a:solidFill>
                    </a:rPr>
                    <a:t>Mid-game escape accept</a:t>
                  </a:r>
                  <a:r>
                    <a:rPr lang="en-US" sz="4000" b="1" dirty="0">
                      <a:solidFill>
                        <a:srgbClr val="111111"/>
                      </a:solidFill>
                    </a:rPr>
                    <a:t> </a:t>
                  </a:r>
                </a:p>
                <a:p>
                  <a:pPr lvl="1">
                    <a:spcAft>
                      <a:spcPts val="600"/>
                    </a:spcAft>
                  </a:pPr>
                  <a:r>
                    <a:rPr lang="en-US" sz="3600" b="1" dirty="0">
                      <a:solidFill>
                        <a:srgbClr val="001750"/>
                      </a:solidFill>
                    </a:rPr>
                    <a:t> took mediocre / deceptive deals</a:t>
                  </a:r>
                </a:p>
              </p:txBody>
            </p:sp>
          </p:grpSp>
        </p:grp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13B76CC-18FF-F4CD-7618-0EEE76B56A14}"/>
                </a:ext>
              </a:extLst>
            </p:cNvPr>
            <p:cNvSpPr/>
            <p:nvPr/>
          </p:nvSpPr>
          <p:spPr>
            <a:xfrm>
              <a:off x="10466356" y="30042845"/>
              <a:ext cx="5669280" cy="5773694"/>
            </a:xfrm>
            <a:prstGeom prst="roundRect">
              <a:avLst/>
            </a:prstGeom>
            <a:solidFill>
              <a:srgbClr val="E7F2FF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530225"/>
              <a:r>
                <a:rPr lang="en-US" sz="6000" b="1" dirty="0">
                  <a:solidFill>
                    <a:srgbClr val="001750"/>
                  </a:solidFill>
                </a:rPr>
                <a:t>Why </a:t>
              </a:r>
            </a:p>
            <a:p>
              <a:pPr marL="530225"/>
              <a:endParaRPr lang="en-US" sz="2000" b="1" dirty="0">
                <a:solidFill>
                  <a:srgbClr val="001750"/>
                </a:solidFill>
              </a:endParaRPr>
            </a:p>
            <a:p>
              <a:pPr marL="530225"/>
              <a:r>
                <a:rPr lang="en-US" sz="4000" dirty="0">
                  <a:solidFill>
                    <a:schemeClr val="tx1"/>
                  </a:solidFill>
                </a:rPr>
                <a:t>Concealment must be maintained until we have strong deal.</a:t>
              </a:r>
            </a:p>
            <a:p>
              <a:pPr marL="530225"/>
              <a:endParaRPr lang="en-US" sz="2400" b="1" dirty="0">
                <a:solidFill>
                  <a:srgbClr val="001750"/>
                </a:solidFill>
              </a:endParaRPr>
            </a:p>
            <a:p>
              <a:pPr marL="530225"/>
              <a:r>
                <a:rPr lang="en-US" sz="4800" b="1" dirty="0">
                  <a:solidFill>
                    <a:srgbClr val="001750"/>
                  </a:solidFill>
                </a:rPr>
                <a:t>Conceal first, then extract.</a:t>
              </a:r>
            </a:p>
            <a:p>
              <a:endParaRPr lang="he-IL" sz="4000" b="1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9496444D-731F-BF10-EC72-EA95640210A1}"/>
              </a:ext>
            </a:extLst>
          </p:cNvPr>
          <p:cNvSpPr txBox="1"/>
          <p:nvPr/>
        </p:nvSpPr>
        <p:spPr>
          <a:xfrm>
            <a:off x="18038428" y="9910184"/>
            <a:ext cx="6752810" cy="2795158"/>
          </a:xfrm>
          <a:prstGeom prst="rect">
            <a:avLst/>
          </a:prstGeom>
          <a:solidFill>
            <a:srgbClr val="E7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en-US"/>
            </a:defPPr>
            <a:lvl1pPr marL="176213">
              <a:defRPr sz="3600" b="1">
                <a:solidFill>
                  <a:srgbClr val="001750"/>
                </a:solidFill>
              </a:defRPr>
            </a:lvl1pPr>
          </a:lstStyle>
          <a:p>
            <a:r>
              <a:rPr dirty="0"/>
              <a:t>Recency-blended Smith</a:t>
            </a:r>
          </a:p>
          <a:p>
            <a:r>
              <a:rPr b="0" dirty="0"/>
              <a:t>On the second seat, blend full-history Smith with a short recent window so late persona shifts are not ignored.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93A56A-11E1-1072-5C6E-1539F5CE6126}"/>
              </a:ext>
            </a:extLst>
          </p:cNvPr>
          <p:cNvSpPr txBox="1"/>
          <p:nvPr/>
        </p:nvSpPr>
        <p:spPr>
          <a:xfrm>
            <a:off x="25130586" y="9910184"/>
            <a:ext cx="6674353" cy="2795158"/>
          </a:xfrm>
          <a:prstGeom prst="rect">
            <a:avLst/>
          </a:prstGeom>
          <a:solidFill>
            <a:srgbClr val="E7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en-US"/>
            </a:defPPr>
            <a:lvl1pPr marL="530225">
              <a:defRPr sz="3600" b="1">
                <a:solidFill>
                  <a:srgbClr val="001750"/>
                </a:solidFill>
              </a:defRPr>
            </a:lvl1pPr>
          </a:lstStyle>
          <a:p>
            <a:pPr marL="176213"/>
            <a:r>
              <a:rPr dirty="0"/>
              <a:t>Time-weighted Smith</a:t>
            </a:r>
          </a:p>
          <a:p>
            <a:pPr marL="176213"/>
            <a:r>
              <a:rPr b="0" dirty="0"/>
              <a:t>Late-phase bids count more heavily, reducing contamination from early decoy posturing on either side.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CD469A1-B2A3-1ECD-4CA2-1C8A151CD976}"/>
              </a:ext>
            </a:extLst>
          </p:cNvPr>
          <p:cNvSpPr txBox="1"/>
          <p:nvPr/>
        </p:nvSpPr>
        <p:spPr>
          <a:xfrm>
            <a:off x="18038428" y="13128863"/>
            <a:ext cx="6752810" cy="2793600"/>
          </a:xfrm>
          <a:prstGeom prst="rect">
            <a:avLst/>
          </a:prstGeom>
          <a:solidFill>
            <a:srgbClr val="E7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en-US"/>
            </a:defPPr>
            <a:lvl1pPr marL="176213">
              <a:defRPr sz="3600" b="1">
                <a:solidFill>
                  <a:srgbClr val="001750"/>
                </a:solidFill>
              </a:defRPr>
            </a:lvl1pPr>
          </a:lstStyle>
          <a:p>
            <a:r>
              <a:rPr dirty="0"/>
              <a:t>Issue-weighted Smith</a:t>
            </a:r>
          </a:p>
          <a:p>
            <a:r>
              <a:rPr b="0" dirty="0"/>
              <a:t>Issues with repeated values are down-weighted; diverse issues get higher weight</a:t>
            </a:r>
            <a:r>
              <a:rPr lang="en-US" b="0" dirty="0"/>
              <a:t>.</a:t>
            </a:r>
            <a:endParaRPr b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D00781-F2DA-D419-9353-A030B879F729}"/>
              </a:ext>
            </a:extLst>
          </p:cNvPr>
          <p:cNvSpPr txBox="1"/>
          <p:nvPr/>
        </p:nvSpPr>
        <p:spPr>
          <a:xfrm>
            <a:off x="25130586" y="13128863"/>
            <a:ext cx="6592844" cy="2793600"/>
          </a:xfrm>
          <a:prstGeom prst="rect">
            <a:avLst/>
          </a:prstGeom>
          <a:solidFill>
            <a:srgbClr val="E7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>
            <a:defPPr>
              <a:defRPr lang="en-US"/>
            </a:defPPr>
            <a:lvl1pPr marL="530225">
              <a:defRPr sz="3600" b="1">
                <a:solidFill>
                  <a:srgbClr val="001750"/>
                </a:solidFill>
              </a:defRPr>
            </a:lvl1pPr>
          </a:lstStyle>
          <a:p>
            <a:pPr marL="176213"/>
            <a:r>
              <a:rPr dirty="0"/>
              <a:t>Offer trajectory</a:t>
            </a:r>
          </a:p>
          <a:p>
            <a:pPr marL="176213"/>
            <a:r>
              <a:rPr b="0" dirty="0"/>
              <a:t>Track concession slope, non-monotonic rises and predict utilit</a:t>
            </a:r>
            <a:r>
              <a:rPr lang="en-US" b="0" dirty="0"/>
              <a:t>y.</a:t>
            </a:r>
            <a:endParaRPr b="0" dirty="0"/>
          </a:p>
        </p:txBody>
      </p:sp>
      <p:pic>
        <p:nvPicPr>
          <p:cNvPr id="33" name="Graphic 32" descr="Trophy with solid fill">
            <a:extLst>
              <a:ext uri="{FF2B5EF4-FFF2-40B4-BE49-F238E27FC236}">
                <a16:creationId xmlns:a16="http://schemas.microsoft.com/office/drawing/2014/main" id="{A12C010D-E45F-F7CE-4A13-BDC7C04C8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991523" y="29494812"/>
            <a:ext cx="914400" cy="914400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5231879-0B07-B440-1FC4-C88D48D15160}"/>
              </a:ext>
            </a:extLst>
          </p:cNvPr>
          <p:cNvSpPr/>
          <p:nvPr/>
        </p:nvSpPr>
        <p:spPr>
          <a:xfrm>
            <a:off x="26930554" y="19475097"/>
            <a:ext cx="5212105" cy="4484251"/>
          </a:xfrm>
          <a:prstGeom prst="roundRect">
            <a:avLst/>
          </a:prstGeom>
          <a:solidFill>
            <a:srgbClr val="E7F2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265113"/>
            <a:r>
              <a:rPr lang="en-US" sz="6000" b="1" dirty="0">
                <a:solidFill>
                  <a:srgbClr val="001750"/>
                </a:solidFill>
              </a:rPr>
              <a:t>Key Idea</a:t>
            </a:r>
          </a:p>
          <a:p>
            <a:pPr marL="265113"/>
            <a:endParaRPr lang="en-US" sz="2000" b="1" dirty="0">
              <a:solidFill>
                <a:srgbClr val="001750"/>
              </a:solidFill>
            </a:endParaRPr>
          </a:p>
          <a:p>
            <a:pPr marL="265113"/>
            <a:r>
              <a:rPr lang="en-US" sz="4000" dirty="0">
                <a:solidFill>
                  <a:schemeClr val="tx1"/>
                </a:solidFill>
              </a:rPr>
              <a:t>Match the opponent mode and adjust concealment strength accordingly.</a:t>
            </a:r>
            <a:endParaRPr lang="en-US" sz="4800" dirty="0">
              <a:solidFill>
                <a:schemeClr val="tx1"/>
              </a:solidFill>
            </a:endParaRPr>
          </a:p>
          <a:p>
            <a:endParaRPr lang="he-IL" sz="4000" b="1" dirty="0"/>
          </a:p>
        </p:txBody>
      </p:sp>
      <p:pic>
        <p:nvPicPr>
          <p:cNvPr id="43" name="Graphic 42" descr="Direction with solid fill">
            <a:extLst>
              <a:ext uri="{FF2B5EF4-FFF2-40B4-BE49-F238E27FC236}">
                <a16:creationId xmlns:a16="http://schemas.microsoft.com/office/drawing/2014/main" id="{B6911917-1A79-F14A-1398-18040A00A0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479332">
            <a:off x="17578406" y="19750383"/>
            <a:ext cx="615269" cy="491877"/>
          </a:xfrm>
          <a:prstGeom prst="rect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</p:pic>
      <p:pic>
        <p:nvPicPr>
          <p:cNvPr id="45" name="Graphic 44" descr="Lights On with solid fill">
            <a:extLst>
              <a:ext uri="{FF2B5EF4-FFF2-40B4-BE49-F238E27FC236}">
                <a16:creationId xmlns:a16="http://schemas.microsoft.com/office/drawing/2014/main" id="{9B9BD42D-CBCA-1629-5BCA-4EB0415D7C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300995" y="30188599"/>
            <a:ext cx="988103" cy="988103"/>
          </a:xfrm>
          <a:prstGeom prst="rect">
            <a:avLst/>
          </a:prstGeom>
        </p:spPr>
      </p:pic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C80375E9-63A9-BBCA-D729-17008C718094}"/>
              </a:ext>
            </a:extLst>
          </p:cNvPr>
          <p:cNvSpPr/>
          <p:nvPr/>
        </p:nvSpPr>
        <p:spPr>
          <a:xfrm>
            <a:off x="738161" y="36334931"/>
            <a:ext cx="31515868" cy="7036810"/>
          </a:xfrm>
          <a:prstGeom prst="roundRect">
            <a:avLst>
              <a:gd name="adj" fmla="val 5983"/>
            </a:avLst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8000" b="1" dirty="0">
                <a:solidFill>
                  <a:srgbClr val="002060"/>
                </a:solidFill>
                <a:latin typeface="Times New Roman"/>
              </a:rPr>
              <a:t>  Conclusions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8000" b="1" dirty="0">
              <a:solidFill>
                <a:srgbClr val="FFFFFF"/>
              </a:solidFill>
              <a:latin typeface="Times New Roman"/>
            </a:endParaRPr>
          </a:p>
          <a:p>
            <a:pPr algn="ctr"/>
            <a:endParaRPr lang="en-US" sz="6000" b="1" dirty="0">
              <a:solidFill>
                <a:srgbClr val="FFFFFF"/>
              </a:solidFill>
              <a:latin typeface="Times New Roman"/>
            </a:endParaRPr>
          </a:p>
          <a:p>
            <a:pPr algn="ctr"/>
            <a:endParaRPr lang="en-US" sz="6000" b="1" dirty="0">
              <a:solidFill>
                <a:srgbClr val="FFFFFF"/>
              </a:solidFill>
              <a:latin typeface="Times New Roman"/>
            </a:endParaRPr>
          </a:p>
          <a:p>
            <a:pPr algn="ctr"/>
            <a:endParaRPr lang="en-US" sz="6000" b="1" dirty="0">
              <a:solidFill>
                <a:srgbClr val="FFFFFF"/>
              </a:solidFill>
              <a:latin typeface="Times New Roman"/>
            </a:endParaRPr>
          </a:p>
          <a:p>
            <a:pPr algn="ctr"/>
            <a:endParaRPr lang="en-US" sz="6000" b="1" dirty="0">
              <a:solidFill>
                <a:srgbClr val="FFFFFF"/>
              </a:solidFill>
              <a:latin typeface="Times New Roman"/>
            </a:endParaRPr>
          </a:p>
          <a:p>
            <a:endParaRPr lang="he-IL" sz="6000" b="1" dirty="0">
              <a:solidFill>
                <a:srgbClr val="FFFFFF"/>
              </a:solidFill>
              <a:latin typeface="Times New Roman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1E9BD23-59C5-F231-23CD-DAF4665A2517}"/>
              </a:ext>
            </a:extLst>
          </p:cNvPr>
          <p:cNvCxnSpPr>
            <a:cxnSpLocks/>
          </p:cNvCxnSpPr>
          <p:nvPr/>
        </p:nvCxnSpPr>
        <p:spPr>
          <a:xfrm>
            <a:off x="735697" y="37842718"/>
            <a:ext cx="3151440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5007120D-7E64-63BB-E0F3-D74B3C77B12A}"/>
              </a:ext>
            </a:extLst>
          </p:cNvPr>
          <p:cNvSpPr txBox="1"/>
          <p:nvPr/>
        </p:nvSpPr>
        <p:spPr>
          <a:xfrm>
            <a:off x="1521115" y="38261396"/>
            <a:ext cx="6140987" cy="37856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6000">
                <a:solidFill>
                  <a:srgbClr val="1A1A1A"/>
                </a:solidFill>
              </a:defRPr>
            </a:lvl1pPr>
          </a:lstStyle>
          <a:p>
            <a:r>
              <a:rPr lang="en-US" b="1" dirty="0">
                <a:solidFill>
                  <a:srgbClr val="002060"/>
                </a:solidFill>
              </a:rPr>
              <a:t>Concealment first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Decoy early and reveal later.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764D180-D760-2E02-24C5-9672BF3CDD5C}"/>
              </a:ext>
            </a:extLst>
          </p:cNvPr>
          <p:cNvSpPr txBox="1"/>
          <p:nvPr/>
        </p:nvSpPr>
        <p:spPr>
          <a:xfrm>
            <a:off x="8618723" y="38261396"/>
            <a:ext cx="7789194" cy="37856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6000">
                <a:solidFill>
                  <a:srgbClr val="1A1A1A"/>
                </a:solidFill>
              </a:defRPr>
            </a:lvl1pPr>
          </a:lstStyle>
          <a:p>
            <a:r>
              <a:rPr lang="he-IL" b="1" dirty="0" err="1">
                <a:solidFill>
                  <a:srgbClr val="002060"/>
                </a:solidFill>
              </a:rPr>
              <a:t>Seat</a:t>
            </a:r>
            <a:r>
              <a:rPr lang="he-IL" b="1" dirty="0">
                <a:solidFill>
                  <a:srgbClr val="002060"/>
                </a:solidFill>
              </a:rPr>
              <a:t> </a:t>
            </a:r>
            <a:r>
              <a:rPr lang="he-IL" b="1" dirty="0" err="1">
                <a:solidFill>
                  <a:srgbClr val="002060"/>
                </a:solidFill>
              </a:rPr>
              <a:t>asymmetry</a:t>
            </a:r>
            <a:r>
              <a:rPr lang="he-IL" b="1" dirty="0">
                <a:solidFill>
                  <a:srgbClr val="002060"/>
                </a:solidFill>
              </a:rPr>
              <a:t> </a:t>
            </a:r>
            <a:endParaRPr lang="en-US" b="1" dirty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I</a:t>
            </a:r>
            <a:r>
              <a:rPr lang="he-IL" dirty="0" err="1">
                <a:solidFill>
                  <a:srgbClr val="002060"/>
                </a:solidFill>
              </a:rPr>
              <a:t>mprov</a:t>
            </a:r>
            <a:r>
              <a:rPr lang="en-US" dirty="0" err="1">
                <a:solidFill>
                  <a:srgbClr val="002060"/>
                </a:solidFill>
              </a:rPr>
              <a:t>ing</a:t>
            </a:r>
            <a:r>
              <a:rPr lang="en-US" dirty="0">
                <a:solidFill>
                  <a:srgbClr val="002060"/>
                </a:solidFill>
              </a:rPr>
              <a:t> score against</a:t>
            </a:r>
            <a:r>
              <a:rPr lang="he-IL" dirty="0">
                <a:solidFill>
                  <a:srgbClr val="002060"/>
                </a:solidFill>
              </a:rPr>
              <a:t> </a:t>
            </a:r>
            <a:endParaRPr lang="en-US" dirty="0">
              <a:solidFill>
                <a:srgbClr val="002060"/>
              </a:solidFill>
            </a:endParaRPr>
          </a:p>
          <a:p>
            <a:r>
              <a:rPr lang="he-IL" dirty="0" err="1">
                <a:solidFill>
                  <a:srgbClr val="002060"/>
                </a:solidFill>
              </a:rPr>
              <a:t>learner</a:t>
            </a:r>
            <a:r>
              <a:rPr lang="en-US" dirty="0">
                <a:solidFill>
                  <a:srgbClr val="002060"/>
                </a:solidFill>
              </a:rPr>
              <a:t>s </a:t>
            </a:r>
            <a:r>
              <a:rPr lang="he-IL" dirty="0" err="1">
                <a:solidFill>
                  <a:srgbClr val="002060"/>
                </a:solidFill>
              </a:rPr>
              <a:t>match</a:t>
            </a:r>
            <a:r>
              <a:rPr lang="he-IL" dirty="0">
                <a:solidFill>
                  <a:srgbClr val="002060"/>
                </a:solidFill>
              </a:rPr>
              <a:t> </a:t>
            </a:r>
            <a:r>
              <a:rPr lang="he-IL" dirty="0" err="1">
                <a:solidFill>
                  <a:srgbClr val="002060"/>
                </a:solidFill>
              </a:rPr>
              <a:t>ups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303E3E-D511-FC7B-F7E9-0EA1A5E7C3F6}"/>
              </a:ext>
            </a:extLst>
          </p:cNvPr>
          <p:cNvSpPr txBox="1"/>
          <p:nvPr/>
        </p:nvSpPr>
        <p:spPr>
          <a:xfrm>
            <a:off x="17364538" y="38261396"/>
            <a:ext cx="6418522" cy="470898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>
            <a:defPPr>
              <a:defRPr lang="en-US"/>
            </a:defPPr>
            <a:lvl1pPr>
              <a:spcBef>
                <a:spcPts val="0"/>
              </a:spcBef>
              <a:spcAft>
                <a:spcPts val="0"/>
              </a:spcAft>
              <a:defRPr sz="6000">
                <a:solidFill>
                  <a:srgbClr val="1A1A1A"/>
                </a:solidFill>
              </a:defRPr>
            </a:lvl1pPr>
          </a:lstStyle>
          <a:p>
            <a:r>
              <a:rPr lang="he-IL" b="1" dirty="0" err="1">
                <a:solidFill>
                  <a:srgbClr val="002060"/>
                </a:solidFill>
              </a:rPr>
              <a:t>Test</a:t>
            </a:r>
            <a:r>
              <a:rPr lang="en-US" b="1" dirty="0">
                <a:solidFill>
                  <a:srgbClr val="002060"/>
                </a:solidFill>
              </a:rPr>
              <a:t> across panels</a:t>
            </a:r>
          </a:p>
          <a:p>
            <a:endParaRPr lang="en-US" b="1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Robust on learners, stress and deceptive agents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F156280-794B-DC64-0C16-9015D8C9380E}"/>
              </a:ext>
            </a:extLst>
          </p:cNvPr>
          <p:cNvSpPr txBox="1"/>
          <p:nvPr/>
        </p:nvSpPr>
        <p:spPr>
          <a:xfrm>
            <a:off x="24739682" y="38261396"/>
            <a:ext cx="7488857" cy="470898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6000" b="1" dirty="0">
                <a:solidFill>
                  <a:srgbClr val="002060"/>
                </a:solidFill>
              </a:rPr>
              <a:t>Separate controls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6000" b="1" dirty="0">
              <a:solidFill>
                <a:srgbClr val="002060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solidFill>
                  <a:srgbClr val="002060"/>
                </a:solidFill>
              </a:rPr>
              <a:t>For concealing and acceptance 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6000" dirty="0">
                <a:solidFill>
                  <a:srgbClr val="002060"/>
                </a:solidFill>
              </a:rPr>
              <a:t>for bigger </a:t>
            </a:r>
            <a:r>
              <a:rPr lang="en-US" sz="6000" dirty="0" err="1">
                <a:solidFill>
                  <a:srgbClr val="002060"/>
                </a:solidFill>
              </a:rPr>
              <a:t>adavntage</a:t>
            </a:r>
            <a:r>
              <a:rPr lang="en-US" sz="6000" dirty="0">
                <a:solidFill>
                  <a:srgbClr val="002060"/>
                </a:solidFill>
              </a:rPr>
              <a:t>.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67959139-B9AF-B79A-F17B-0A91C25FFC4D}"/>
              </a:ext>
            </a:extLst>
          </p:cNvPr>
          <p:cNvCxnSpPr>
            <a:cxnSpLocks/>
          </p:cNvCxnSpPr>
          <p:nvPr/>
        </p:nvCxnSpPr>
        <p:spPr>
          <a:xfrm flipV="1">
            <a:off x="7757819" y="38142024"/>
            <a:ext cx="0" cy="494772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A22A21A1-5B48-AC41-3243-5A6167396B25}"/>
              </a:ext>
            </a:extLst>
          </p:cNvPr>
          <p:cNvCxnSpPr>
            <a:cxnSpLocks/>
          </p:cNvCxnSpPr>
          <p:nvPr/>
        </p:nvCxnSpPr>
        <p:spPr>
          <a:xfrm flipV="1">
            <a:off x="16537698" y="38142024"/>
            <a:ext cx="0" cy="494772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A1B0D582-05C4-91F1-145C-7C1A9C61DBF0}"/>
              </a:ext>
            </a:extLst>
          </p:cNvPr>
          <p:cNvCxnSpPr>
            <a:cxnSpLocks/>
          </p:cNvCxnSpPr>
          <p:nvPr/>
        </p:nvCxnSpPr>
        <p:spPr>
          <a:xfrm flipV="1">
            <a:off x="24089261" y="38142024"/>
            <a:ext cx="0" cy="4947724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7" name="Graphic 86" descr="Key outline">
            <a:extLst>
              <a:ext uri="{FF2B5EF4-FFF2-40B4-BE49-F238E27FC236}">
                <a16:creationId xmlns:a16="http://schemas.microsoft.com/office/drawing/2014/main" id="{1AA9B84B-3BA1-F92D-2AB8-5BD47710DC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8202048">
            <a:off x="30580631" y="19661314"/>
            <a:ext cx="1084072" cy="10840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480</Words>
  <Application>Microsoft Office PowerPoint</Application>
  <PresentationFormat>Custom</PresentationFormat>
  <Paragraphs>112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Times New Roman</vt:lpstr>
      <vt:lpstr>Office Theme</vt:lpstr>
      <vt:lpstr>Custom Design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Kazum Noam</cp:lastModifiedBy>
  <cp:revision>12</cp:revision>
  <dcterms:created xsi:type="dcterms:W3CDTF">2013-01-27T09:14:16Z</dcterms:created>
  <dcterms:modified xsi:type="dcterms:W3CDTF">2026-08-01T20:48:52Z</dcterms:modified>
  <cp:category/>
</cp:coreProperties>
</file>