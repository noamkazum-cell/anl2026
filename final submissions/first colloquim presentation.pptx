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9EPCE5X0A4Ru0aJdI6BICli39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lay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dea93819d_1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bdea93819d_1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b7acd7123_3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b7acd7123_3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df8683b5e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bdf8683b5e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b7acd7123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bb7acd7123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ea93819d_1_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bdea93819d_1_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g3bdea93819d_1_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bdea93819d_1_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bdea93819d_1_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ea93819d_1_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bdea93819d_1_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bdea93819d_1_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bdea93819d_1_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bdea93819d_1_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ea93819d_1_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bdea93819d_1_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g3bdea93819d_1_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bdea93819d_1_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bdea93819d_1_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ea93819d_1_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bdea93819d_1_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bdea93819d_1_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g3bdea93819d_1_2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bdea93819d_1_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bdea93819d_1_2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a93819d_1_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bdea93819d_1_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bdea93819d_1_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bdea93819d_1_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bdea93819d_1_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g3bdea93819d_1_3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bdea93819d_1_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bdea93819d_1_3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ea93819d_1_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bdea93819d_1_4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bdea93819d_1_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bdea93819d_1_4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ea93819d_1_4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bdea93819d_1_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bdea93819d_1_4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ea93819d_1_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bdea93819d_1_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g3bdea93819d_1_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g3bdea93819d_1_4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bdea93819d_1_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bdea93819d_1_4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ea93819d_1_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bdea93819d_1_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g3bdea93819d_1_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g3bdea93819d_1_5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bdea93819d_1_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3bdea93819d_1_5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dea93819d_1_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3bdea93819d_1_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g3bdea93819d_1_6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bdea93819d_1_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bdea93819d_1_6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dea93819d_1_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g3bdea93819d_1_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g3bdea93819d_1_6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bdea93819d_1_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bdea93819d_1_6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ea93819d_1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bdea93819d_1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bdea93819d_1_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bdea93819d_1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bdea93819d_1_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emuHIzDDdeZqAAWqsjY2U7TpyDN4RAgd/view" TargetMode="External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0" y="1422464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en-US" sz="5700"/>
              <a:t>Autonomous Negotiation Agents</a:t>
            </a:r>
            <a:br>
              <a:rPr b="1" lang="en-US" sz="5700"/>
            </a:br>
            <a:endParaRPr sz="5700"/>
          </a:p>
        </p:txBody>
      </p:sp>
      <p:sp>
        <p:nvSpPr>
          <p:cNvPr id="164" name="Google Shape;164;p1"/>
          <p:cNvSpPr txBox="1"/>
          <p:nvPr>
            <p:ph idx="1" type="subTitle"/>
          </p:nvPr>
        </p:nvSpPr>
        <p:spPr>
          <a:xfrm>
            <a:off x="1496786" y="3024187"/>
            <a:ext cx="9144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/>
              <a:t>Modeling Opponent</a:t>
            </a:r>
            <a:endParaRPr sz="3600"/>
          </a:p>
        </p:txBody>
      </p:sp>
      <p:sp>
        <p:nvSpPr>
          <p:cNvPr id="165" name="Google Shape;165;p1"/>
          <p:cNvSpPr txBox="1"/>
          <p:nvPr/>
        </p:nvSpPr>
        <p:spPr>
          <a:xfrm>
            <a:off x="1524000" y="5232527"/>
            <a:ext cx="9144000" cy="503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Presented by: Omer Shani, Noam Kazum | Dr. Raz Lin, Dr. Galit Haim</a:t>
            </a:r>
            <a:endParaRPr/>
          </a:p>
          <a:p>
            <a:pPr indent="0" lvl="0" marL="0" marR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" title="Untitled video - Made with Clipchamp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650133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Foundations of Autonomous Negotiation</a:t>
            </a:r>
            <a:endParaRPr/>
          </a:p>
        </p:txBody>
      </p:sp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838200" y="1825625"/>
            <a:ext cx="10515600" cy="4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Aim - solve conflict of interest between agents efficiently and optimally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4452" r="1625" t="0"/>
          <a:stretch/>
        </p:blipFill>
        <p:spPr>
          <a:xfrm>
            <a:off x="69275" y="3566275"/>
            <a:ext cx="12933268" cy="132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Research Methodology</a:t>
            </a:r>
            <a:endParaRPr/>
          </a:p>
        </p:txBody>
      </p:sp>
      <p:pic>
        <p:nvPicPr>
          <p:cNvPr descr="תמונה שמכילה טקסט, גופן, לבן, צילום מסך&#10;&#10;תוכן בינה מלאכותית גנרטיבית עשוי להיות שגוי." id="187" name="Google Shape;187;p4"/>
          <p:cNvPicPr preferRelativeResize="0"/>
          <p:nvPr/>
        </p:nvPicPr>
        <p:blipFill rotWithShape="1">
          <a:blip r:embed="rId3">
            <a:alphaModFix/>
          </a:blip>
          <a:srcRect b="0" l="0" r="685" t="0"/>
          <a:stretch/>
        </p:blipFill>
        <p:spPr>
          <a:xfrm>
            <a:off x="-358117" y="2513730"/>
            <a:ext cx="12847498" cy="29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Competition &amp; NegMAS Environment</a:t>
            </a:r>
            <a:endParaRPr/>
          </a:p>
        </p:txBody>
      </p:sp>
      <p:sp>
        <p:nvSpPr>
          <p:cNvPr id="194" name="Google Shape;194;p5"/>
          <p:cNvSpPr txBox="1"/>
          <p:nvPr>
            <p:ph idx="1" type="body"/>
          </p:nvPr>
        </p:nvSpPr>
        <p:spPr>
          <a:xfrm>
            <a:off x="838200" y="24856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Automated Negotiation League (ANL)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Premier global event for benchmarking autonomous negotiators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Focuses on bilateral and multi-deal scenarios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Negotiation Multi-Agent System (NegMAS)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Python library providing the environment for agent development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Framework of ground rules for negotiation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Basic Concepts</a:t>
            </a:r>
            <a:endParaRPr/>
          </a:p>
        </p:txBody>
      </p:sp>
      <p:pic>
        <p:nvPicPr>
          <p:cNvPr descr="תמונה שמכילה טקסט, לבן, גופן, צילום מסך&#10;&#10;תוכן בינה מלאכותית גנרטיבית עשוי להיות שגוי." id="201" name="Google Shape;201;p6"/>
          <p:cNvPicPr preferRelativeResize="0"/>
          <p:nvPr/>
        </p:nvPicPr>
        <p:blipFill rotWithShape="1">
          <a:blip r:embed="rId3">
            <a:alphaModFix/>
          </a:blip>
          <a:srcRect b="71341" l="73772" r="22791" t="7586"/>
          <a:stretch/>
        </p:blipFill>
        <p:spPr>
          <a:xfrm>
            <a:off x="6977147" y="4020725"/>
            <a:ext cx="419025" cy="42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לבן, גופן, צילום מסך&#10;&#10;תוכן בינה מלאכותית גנרטיבית עשוי להיות שגוי." id="202" name="Google Shape;202;p6"/>
          <p:cNvPicPr preferRelativeResize="0"/>
          <p:nvPr/>
        </p:nvPicPr>
        <p:blipFill rotWithShape="1">
          <a:blip r:embed="rId3">
            <a:alphaModFix/>
          </a:blip>
          <a:srcRect b="70964" l="50991" r="45778" t="7963"/>
          <a:stretch/>
        </p:blipFill>
        <p:spPr>
          <a:xfrm>
            <a:off x="6989659" y="1969050"/>
            <a:ext cx="394000" cy="42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לבן, גופן, צילום מסך&#10;&#10;תוכן בינה מלאכותית גנרטיבית עשוי להיות שגוי." id="203" name="Google Shape;203;p6"/>
          <p:cNvPicPr preferRelativeResize="0"/>
          <p:nvPr/>
        </p:nvPicPr>
        <p:blipFill rotWithShape="1">
          <a:blip r:embed="rId3">
            <a:alphaModFix/>
          </a:blip>
          <a:srcRect b="71383" l="28101" r="68667" t="7544"/>
          <a:stretch/>
        </p:blipFill>
        <p:spPr>
          <a:xfrm>
            <a:off x="1222542" y="4020725"/>
            <a:ext cx="394000" cy="42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לבן, גופן, צילום מסך&#10;&#10;תוכן בינה מלאכותית גנרטיבית עשוי להיות שגוי." id="204" name="Google Shape;204;p6"/>
          <p:cNvPicPr preferRelativeResize="0"/>
          <p:nvPr/>
        </p:nvPicPr>
        <p:blipFill rotWithShape="1">
          <a:blip r:embed="rId3">
            <a:alphaModFix/>
          </a:blip>
          <a:srcRect b="71492" l="5409" r="91360" t="7435"/>
          <a:stretch/>
        </p:blipFill>
        <p:spPr>
          <a:xfrm>
            <a:off x="1222542" y="1969050"/>
            <a:ext cx="394000" cy="4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1714392" y="1969050"/>
            <a:ext cx="3518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</a:rPr>
              <a:t>Reservation Value</a:t>
            </a:r>
            <a:r>
              <a:rPr lang="en-US" sz="2400">
                <a:solidFill>
                  <a:schemeClr val="dk1"/>
                </a:solidFill>
              </a:rPr>
              <a:t> - The ‘walk-away’ point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714392" y="4020725"/>
            <a:ext cx="3919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</a:rPr>
              <a:t>Utility Function</a:t>
            </a:r>
            <a:r>
              <a:rPr lang="en-US" sz="2400">
                <a:solidFill>
                  <a:schemeClr val="dk1"/>
                </a:solidFill>
              </a:rPr>
              <a:t> - A mapping that assigns a real number to every possible outcome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7548348" y="1969050"/>
            <a:ext cx="351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</a:rPr>
              <a:t>Relative</a:t>
            </a:r>
            <a:r>
              <a:rPr lang="en-US" sz="2400" u="sng">
                <a:solidFill>
                  <a:schemeClr val="dk1"/>
                </a:solidFill>
              </a:rPr>
              <a:t> Time</a:t>
            </a:r>
            <a:r>
              <a:rPr lang="en-US" sz="2400">
                <a:solidFill>
                  <a:schemeClr val="dk1"/>
                </a:solidFill>
              </a:rPr>
              <a:t> - A value from 0.0 (start) to 1.0 (deadline)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548350" y="4020725"/>
            <a:ext cx="3518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</a:rPr>
              <a:t>Offer Actions</a:t>
            </a:r>
            <a:r>
              <a:rPr lang="en-US" sz="2400">
                <a:solidFill>
                  <a:schemeClr val="dk1"/>
                </a:solidFill>
              </a:rPr>
              <a:t> - Propose, accept, reject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09" name="Google Shape;209;p6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dea93819d_1_1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Related Work</a:t>
            </a:r>
            <a:endParaRPr/>
          </a:p>
        </p:txBody>
      </p:sp>
      <p:sp>
        <p:nvSpPr>
          <p:cNvPr id="215" name="Google Shape;215;g3bdea93819d_1_10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Theoretical Learning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Building Agent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Running Tournaments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Conducting experiments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800"/>
          </a:p>
        </p:txBody>
      </p:sp>
      <p:pic>
        <p:nvPicPr>
          <p:cNvPr descr="תמונה שמכילה טקסט, צילום מסך, גופן, מסמך&#10;&#10;תוכן בינה מלאכותית גנרטיבית עשוי להיות שגוי." id="216" name="Google Shape;216;g3bdea93819d_1_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9" y="461763"/>
            <a:ext cx="4733545" cy="3439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צילום מסך, אתר, דף אינטרנט&#10;&#10;תוכן בינה מלאכותית גנרטיבית עשוי להיות שגוי." id="217" name="Google Shape;217;g3bdea93819d_1_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7805" y="4036354"/>
            <a:ext cx="6464867" cy="2166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צילום מסך, גופן, מספר&#10;&#10;תוכן בינה מלאכותית גנרטיבית עשוי להיות שגוי." id="218" name="Google Shape;218;g3bdea93819d_1_1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9507" y="584537"/>
            <a:ext cx="6815391" cy="581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צילום מסך&#10;&#10;תוכן בינה מלאכותית גנרטיבית עשוי להיות שגוי." id="219" name="Google Shape;219;g3bdea93819d_1_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5123" y="352399"/>
            <a:ext cx="7130229" cy="47671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g3bdea93819d_1_108"/>
          <p:cNvGrpSpPr/>
          <p:nvPr/>
        </p:nvGrpSpPr>
        <p:grpSpPr>
          <a:xfrm>
            <a:off x="7797384" y="4116241"/>
            <a:ext cx="3967741" cy="1996042"/>
            <a:chOff x="7797384" y="4116241"/>
            <a:chExt cx="3967741" cy="1996042"/>
          </a:xfrm>
        </p:grpSpPr>
        <p:pic>
          <p:nvPicPr>
            <p:cNvPr descr="תמונה שמכילה טקסט, גופן, צילום מסך&#10;&#10;תוכן בינה מלאכותית גנרטיבית עשוי להיות שגוי." id="221" name="Google Shape;221;g3bdea93819d_1_10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97384" y="4116241"/>
              <a:ext cx="3967741" cy="19960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g3bdea93819d_1_108"/>
            <p:cNvSpPr/>
            <p:nvPr/>
          </p:nvSpPr>
          <p:spPr>
            <a:xfrm>
              <a:off x="7964424" y="5350833"/>
              <a:ext cx="3487674" cy="256032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bdea93819d_1_108"/>
            <p:cNvSpPr/>
            <p:nvPr/>
          </p:nvSpPr>
          <p:spPr>
            <a:xfrm>
              <a:off x="7925562" y="5831536"/>
              <a:ext cx="3547110" cy="256032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g3bdea93819d_1_108"/>
          <p:cNvGrpSpPr/>
          <p:nvPr/>
        </p:nvGrpSpPr>
        <p:grpSpPr>
          <a:xfrm>
            <a:off x="4893588" y="461763"/>
            <a:ext cx="6526889" cy="6136270"/>
            <a:chOff x="4934656" y="612382"/>
            <a:chExt cx="6526889" cy="6136270"/>
          </a:xfrm>
        </p:grpSpPr>
        <p:pic>
          <p:nvPicPr>
            <p:cNvPr descr="תמונה שמכילה טקסט, צילום מסך, גופן, מספר&#10;&#10;תוכן בינה מלאכותית גנרטיבית עשוי להיות שגוי." id="225" name="Google Shape;225;g3bdea93819d_1_10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96678" y="612382"/>
              <a:ext cx="6464867" cy="2013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תמונה שמכילה טקסט, צילום מסך, גופן&#10;&#10;תוכן בינה מלאכותית גנרטיבית עשוי להיות שגוי." id="226" name="Google Shape;226;g3bdea93819d_1_10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954859" y="2769802"/>
              <a:ext cx="6401693" cy="19052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תמונה שמכילה טקסט, צילום מסך, גופן&#10;&#10;תוכן בינה מלאכותית גנרטיבית עשוי להיות שגוי." id="227" name="Google Shape;227;g3bdea93819d_1_10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34656" y="4852912"/>
              <a:ext cx="6430272" cy="1895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g3bdea93819d_1_108"/>
            <p:cNvSpPr/>
            <p:nvPr/>
          </p:nvSpPr>
          <p:spPr>
            <a:xfrm>
              <a:off x="10140696" y="841248"/>
              <a:ext cx="1223391" cy="1722865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bdea93819d_1_108"/>
            <p:cNvSpPr/>
            <p:nvPr/>
          </p:nvSpPr>
          <p:spPr>
            <a:xfrm>
              <a:off x="8563959" y="3419756"/>
              <a:ext cx="1223391" cy="3270704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g3bdea93819d_1_108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2024</a:t>
            </a:r>
            <a:endParaRPr/>
          </a:p>
        </p:txBody>
      </p:sp>
      <p:sp>
        <p:nvSpPr>
          <p:cNvPr id="236" name="Google Shape;23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Protocol: </a:t>
            </a:r>
            <a:r>
              <a:rPr lang="en-US" sz="1800"/>
              <a:t>Alternating Offers Protocol (AOP)</a:t>
            </a:r>
            <a:br>
              <a:rPr lang="en-US" sz="1800"/>
            </a:b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Information:</a:t>
            </a:r>
            <a:r>
              <a:rPr lang="en-US" sz="1800"/>
              <a:t> Agents have access to their own and their </a:t>
            </a:r>
            <a:r>
              <a:rPr lang="en-US" sz="1800" u="sng"/>
              <a:t>opponent's utility function</a:t>
            </a:r>
            <a:r>
              <a:rPr lang="en-US" sz="1800"/>
              <a:t>, but the opponent's </a:t>
            </a:r>
            <a:r>
              <a:rPr lang="en-US" sz="1800" u="sng"/>
              <a:t>reservation value remains private</a:t>
            </a:r>
            <a:br>
              <a:rPr lang="en-US" sz="1800" u="sng"/>
            </a:b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Special Rule: </a:t>
            </a:r>
            <a:r>
              <a:rPr lang="en-US" sz="1800"/>
              <a:t>If the negotiate broke - each agent gets their reservation value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Reservation Value Modeling: </a:t>
            </a:r>
            <a:r>
              <a:rPr lang="en-US" sz="1800"/>
              <a:t>Bayesian Learning, Neural Networks, and Linear Regression</a:t>
            </a:r>
            <a:br>
              <a:rPr lang="en-US" sz="1800"/>
            </a:b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Key Winning Strategy: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Last-Chance Exploitation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Bidding Trends</a:t>
            </a:r>
            <a:endParaRPr sz="1800"/>
          </a:p>
        </p:txBody>
      </p:sp>
      <p:sp>
        <p:nvSpPr>
          <p:cNvPr id="237" name="Google Shape;237;p8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 txBox="1"/>
          <p:nvPr>
            <p:ph type="title"/>
          </p:nvPr>
        </p:nvSpPr>
        <p:spPr>
          <a:xfrm>
            <a:off x="107019" y="4020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2024 - </a:t>
            </a:r>
            <a:r>
              <a:rPr b="1" lang="en-US"/>
              <a:t>Top Agents</a:t>
            </a:r>
            <a:endParaRPr/>
          </a:p>
        </p:txBody>
      </p:sp>
      <p:sp>
        <p:nvSpPr>
          <p:cNvPr id="244" name="Google Shape;244;p9"/>
          <p:cNvSpPr txBox="1"/>
          <p:nvPr>
            <p:ph idx="1" type="body"/>
          </p:nvPr>
        </p:nvSpPr>
        <p:spPr>
          <a:xfrm>
            <a:off x="322039" y="1825625"/>
            <a:ext cx="6275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/>
              <a:t>Shochan</a:t>
            </a:r>
            <a:endParaRPr b="1" sz="3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b="1" lang="en-US" sz="1800"/>
            </a:br>
            <a:r>
              <a:rPr b="1" lang="en-US" sz="1800"/>
              <a:t>Core philosophy: </a:t>
            </a:r>
            <a:r>
              <a:rPr lang="en-US" sz="1800"/>
              <a:t>"Slow down to maximum, conclude firmly“ </a:t>
            </a:r>
            <a:r>
              <a:rPr b="1" lang="en-US" sz="1800"/>
              <a:t>- </a:t>
            </a:r>
            <a:r>
              <a:rPr lang="en-US" sz="1800"/>
              <a:t>Aiming to reach an agreement at the very last second</a:t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b="1" lang="en-US" sz="1800"/>
            </a:br>
            <a:r>
              <a:rPr b="1" lang="en-US" sz="1800"/>
              <a:t>Bidding Strategy : </a:t>
            </a:r>
            <a:r>
              <a:rPr lang="en-US" sz="1800"/>
              <a:t>Adaptive Boulware Strategy</a:t>
            </a:r>
            <a:r>
              <a:rPr lang="en-US" sz="1800" u="sng"/>
              <a:t>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Opponent Modeling: </a:t>
            </a:r>
            <a:r>
              <a:rPr lang="en-US" sz="1800"/>
              <a:t>Target Prediction - it uses Linear Interpolation to predict the opponent's final concession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245" name="Google Shape;245;p9"/>
          <p:cNvSpPr txBox="1"/>
          <p:nvPr/>
        </p:nvSpPr>
        <p:spPr>
          <a:xfrm>
            <a:off x="6205975" y="1825625"/>
            <a:ext cx="5994000" cy="48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AgentRenting2024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philosophy: </a:t>
            </a:r>
            <a:r>
              <a:rPr b="0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 strategy that leverages hybrid AI modeling</a:t>
            </a:r>
            <a:endParaRPr b="0" i="0" sz="18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1" lang="en-US" sz="1800" u="sng">
                <a:solidFill>
                  <a:schemeClr val="dk1"/>
                </a:solidFill>
              </a:rPr>
            </a:br>
            <a:br>
              <a:rPr b="1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Bidding Strategy: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who holds the final offer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Opponent Modeling:</a:t>
            </a:r>
            <a:endParaRPr/>
          </a:p>
          <a:p>
            <a:pPr indent="-23546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Arial"/>
              <a:buChar char="•"/>
            </a:pPr>
            <a:r>
              <a:rPr b="0" i="0" lang="en-US" sz="17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Tactical Curve-Fitting</a:t>
            </a:r>
            <a:endParaRPr sz="1508"/>
          </a:p>
          <a:p>
            <a:pPr indent="-23546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8"/>
              <a:buFont typeface="Arial"/>
              <a:buChar char="•"/>
            </a:pPr>
            <a:r>
              <a:rPr b="0" i="0" lang="en-US" sz="17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Strategic Neural Network</a:t>
            </a:r>
            <a:endParaRPr b="0" i="0" sz="330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75" y="5090325"/>
            <a:ext cx="5426163" cy="13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125" y="5090325"/>
            <a:ext cx="6093525" cy="108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b7acd7123_3_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2025</a:t>
            </a:r>
            <a:endParaRPr/>
          </a:p>
        </p:txBody>
      </p:sp>
      <p:sp>
        <p:nvSpPr>
          <p:cNvPr id="254" name="Google Shape;254;g3bb7acd7123_3_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In this </a:t>
            </a:r>
            <a:r>
              <a:rPr b="1" lang="en-US" sz="1800"/>
              <a:t>multilateral</a:t>
            </a:r>
            <a:r>
              <a:rPr lang="en-US" sz="1800"/>
              <a:t> negotiation framework, the tournament features a structure where a single main strategist engages in a series of sequential negotiations with different opponents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The Objective:</a:t>
            </a:r>
            <a:r>
              <a:rPr lang="en-US" sz="1800"/>
              <a:t> The goal for the main agent is to reach a desired combination of deals across all separate sub-negotiations to maximize its overall final utility function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Strategic Challenges: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US" sz="1800"/>
              <a:t>Strategic Coordination:</a:t>
            </a:r>
            <a:r>
              <a:rPr lang="en-US" sz="1800"/>
              <a:t> The main strategist must account for the potential utility that may be gained in future interactions and adapt its negotiation approach as it proceeds through the sequence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US" sz="1800"/>
              <a:t>Future Dependencies:</a:t>
            </a:r>
            <a:r>
              <a:rPr lang="en-US" sz="1800"/>
              <a:t> While the main strategist manages the broader </a:t>
            </a:r>
            <a:r>
              <a:rPr b="1" lang="en-US" sz="1800"/>
              <a:t>multilateral</a:t>
            </a:r>
            <a:r>
              <a:rPr lang="en-US" sz="1800"/>
              <a:t> sequence, opponents focus only on the current interaction. Because they have no future dependencies within the series, these opponents can afford to be more assertive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-US" sz="1800"/>
              <a:t>Adaptation:</a:t>
            </a:r>
            <a:r>
              <a:rPr lang="en-US" sz="1800"/>
              <a:t> As the sequence progresses, the main strategist may need to transition from assertive behavior to making concessions as options diminish toward the end of the series</a:t>
            </a:r>
            <a:endParaRPr b="1" sz="1800"/>
          </a:p>
        </p:txBody>
      </p:sp>
      <p:sp>
        <p:nvSpPr>
          <p:cNvPr id="255" name="Google Shape;255;g3bb7acd7123_3_29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>
            <p:ph type="title"/>
          </p:nvPr>
        </p:nvSpPr>
        <p:spPr>
          <a:xfrm>
            <a:off x="334875" y="365125"/>
            <a:ext cx="11019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2025 - </a:t>
            </a:r>
            <a:r>
              <a:rPr b="1" lang="en-US"/>
              <a:t>Top Agents</a:t>
            </a:r>
            <a:endParaRPr/>
          </a:p>
        </p:txBody>
      </p:sp>
      <p:sp>
        <p:nvSpPr>
          <p:cNvPr id="262" name="Google Shape;262;p11"/>
          <p:cNvSpPr txBox="1"/>
          <p:nvPr>
            <p:ph idx="1" type="body"/>
          </p:nvPr>
        </p:nvSpPr>
        <p:spPr>
          <a:xfrm>
            <a:off x="79218" y="1753039"/>
            <a:ext cx="6382800" cy="4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543"/>
              <a:buNone/>
            </a:pPr>
            <a:r>
              <a:rPr b="1" lang="en-US" sz="5410"/>
              <a:t>RUFL (Utility Fit Look-Ahead)</a:t>
            </a:r>
            <a:endParaRPr b="1" sz="541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b="1" lang="en-US" sz="1800"/>
            </a:br>
            <a:r>
              <a:rPr b="1" lang="en-US" sz="2850"/>
              <a:t>Core philosophy: </a:t>
            </a:r>
            <a:r>
              <a:rPr lang="en-US" sz="2850"/>
              <a:t>combines opponent modeling through curve fitting with lookahead search</a:t>
            </a:r>
            <a:endParaRPr b="1" sz="28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3158"/>
              <a:buNone/>
            </a:pPr>
            <a:br>
              <a:rPr b="1" lang="en-US" sz="2850"/>
            </a:br>
            <a:r>
              <a:rPr b="1" lang="en-US" sz="2850"/>
              <a:t>Bidding Strategy : </a:t>
            </a:r>
            <a:r>
              <a:rPr lang="en-US" sz="2850"/>
              <a:t>Reaching an agreement close to the end of a sub-negotiation to get as much information from the opponent as possible</a:t>
            </a:r>
            <a:endParaRPr sz="28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3158"/>
              <a:buNone/>
            </a:pPr>
            <a:r>
              <a:t/>
            </a:r>
            <a:endParaRPr b="1" sz="28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3158"/>
              <a:buNone/>
            </a:pPr>
            <a:r>
              <a:rPr b="1" lang="en-US" sz="2850"/>
              <a:t>Opponent Modeling:</a:t>
            </a:r>
            <a:endParaRPr sz="2850"/>
          </a:p>
          <a:p>
            <a:pPr indent="-341709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-US" sz="2850"/>
              <a:t>Extensive form game tree with probability distributions over outcomes</a:t>
            </a:r>
            <a:endParaRPr sz="2850"/>
          </a:p>
          <a:p>
            <a:pPr indent="-341709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2850"/>
              <a:t>Backwards induction with expected utility propagation</a:t>
            </a:r>
            <a:endParaRPr sz="28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8246"/>
              <a:buNone/>
            </a:pPr>
            <a:r>
              <a:t/>
            </a:r>
            <a:endParaRPr sz="285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/>
          </a:p>
        </p:txBody>
      </p:sp>
      <p:sp>
        <p:nvSpPr>
          <p:cNvPr id="263" name="Google Shape;263;p11"/>
          <p:cNvSpPr txBox="1"/>
          <p:nvPr/>
        </p:nvSpPr>
        <p:spPr>
          <a:xfrm>
            <a:off x="6416675" y="1753039"/>
            <a:ext cx="5994000" cy="48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350">
                <a:solidFill>
                  <a:schemeClr val="dk1"/>
                </a:solidFill>
              </a:rPr>
              <a:t>SAC (Soft Actor-Critic)</a:t>
            </a:r>
            <a:endParaRPr sz="335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 philosophy: </a:t>
            </a:r>
            <a:r>
              <a:rPr lang="en-US" sz="1800">
                <a:solidFill>
                  <a:schemeClr val="dk1"/>
                </a:solidFill>
              </a:rPr>
              <a:t>The agent uses a pre-trained neural network policy (Soft Actor-Critic style) to determine concession parameters.</a:t>
            </a:r>
            <a:endParaRPr b="0" i="0" sz="1800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1" i="0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Bidding Strategy: </a:t>
            </a:r>
            <a:r>
              <a:rPr lang="en-US" sz="1800">
                <a:solidFill>
                  <a:schemeClr val="dk1"/>
                </a:solidFill>
              </a:rPr>
              <a:t>Time-based exponential concession strategy.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Opponent Modeling:</a:t>
            </a:r>
            <a:r>
              <a:rPr lang="en-US" sz="1800"/>
              <a:t> </a:t>
            </a:r>
            <a:r>
              <a:rPr lang="en-US" sz="1800">
                <a:solidFill>
                  <a:schemeClr val="dk1"/>
                </a:solidFill>
              </a:rPr>
              <a:t>The agent does not utilize an explicit opponent model, instead, it learns to react strategically by observing context features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Agents’ Evaluation</a:t>
            </a:r>
            <a:endParaRPr/>
          </a:p>
        </p:txBody>
      </p:sp>
      <p:sp>
        <p:nvSpPr>
          <p:cNvPr id="270" name="Google Shape;27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500"/>
              <a:t>Beside competing against other agents, the agents also participate in different scenarios in order to test specific abilities of the agents</a:t>
            </a:r>
            <a:endParaRPr sz="25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913" y="3067189"/>
            <a:ext cx="2749574" cy="274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b="7737" l="0" r="0" t="7142"/>
          <a:stretch/>
        </p:blipFill>
        <p:spPr>
          <a:xfrm>
            <a:off x="4692350" y="3071941"/>
            <a:ext cx="2749574" cy="2860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2" title="adaptab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04225" y="3067175"/>
            <a:ext cx="2749574" cy="2749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>
            <p:ph idx="1" type="body"/>
          </p:nvPr>
        </p:nvSpPr>
        <p:spPr>
          <a:xfrm>
            <a:off x="838200" y="5932075"/>
            <a:ext cx="2865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One High Score</a:t>
            </a:r>
            <a:endParaRPr/>
          </a:p>
        </p:txBody>
      </p:sp>
      <p:sp>
        <p:nvSpPr>
          <p:cNvPr id="275" name="Google Shape;275;p12"/>
          <p:cNvSpPr txBox="1"/>
          <p:nvPr>
            <p:ph idx="1" type="body"/>
          </p:nvPr>
        </p:nvSpPr>
        <p:spPr>
          <a:xfrm>
            <a:off x="4501181" y="5932075"/>
            <a:ext cx="2865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Planning Ahead</a:t>
            </a:r>
            <a:endParaRPr/>
          </a:p>
        </p:txBody>
      </p:sp>
      <p:sp>
        <p:nvSpPr>
          <p:cNvPr id="276" name="Google Shape;276;p12"/>
          <p:cNvSpPr txBox="1"/>
          <p:nvPr>
            <p:ph idx="1" type="body"/>
          </p:nvPr>
        </p:nvSpPr>
        <p:spPr>
          <a:xfrm>
            <a:off x="8164163" y="5932075"/>
            <a:ext cx="36297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Adaptation &amp; </a:t>
            </a:r>
            <a:r>
              <a:rPr lang="en-US"/>
              <a:t>Flexibility</a:t>
            </a:r>
            <a:endParaRPr/>
          </a:p>
        </p:txBody>
      </p:sp>
      <p:sp>
        <p:nvSpPr>
          <p:cNvPr id="277" name="Google Shape;277;p12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Preliminary Observations</a:t>
            </a:r>
            <a:endParaRPr/>
          </a:p>
        </p:txBody>
      </p:sp>
      <p:pic>
        <p:nvPicPr>
          <p:cNvPr descr="תמונה שמכילה טקסט, גופן, לבן, צילום מסך&#10;&#10;תוכן בינה מלאכותית גנרטיבית עשוי להיות שגוי." id="283" name="Google Shape;283;p13"/>
          <p:cNvPicPr preferRelativeResize="0"/>
          <p:nvPr/>
        </p:nvPicPr>
        <p:blipFill rotWithShape="1">
          <a:blip r:embed="rId3">
            <a:alphaModFix/>
          </a:blip>
          <a:srcRect b="73674" l="5263" r="91264" t="5280"/>
          <a:stretch/>
        </p:blipFill>
        <p:spPr>
          <a:xfrm>
            <a:off x="1895875" y="2323925"/>
            <a:ext cx="423501" cy="4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3"/>
          <p:cNvSpPr txBox="1"/>
          <p:nvPr>
            <p:ph type="title"/>
          </p:nvPr>
        </p:nvSpPr>
        <p:spPr>
          <a:xfrm>
            <a:off x="3905557" y="1081841"/>
            <a:ext cx="43809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 sz="2200"/>
              <a:t>Regarding opponent modeling</a:t>
            </a:r>
            <a:endParaRPr sz="2200"/>
          </a:p>
        </p:txBody>
      </p:sp>
      <p:pic>
        <p:nvPicPr>
          <p:cNvPr descr="תמונה שמכילה טקסט, גופן, לבן, צילום מסך&#10;&#10;תוכן בינה מלאכותית גנרטיבית עשוי להיות שגוי." id="285" name="Google Shape;285;p13"/>
          <p:cNvPicPr preferRelativeResize="0"/>
          <p:nvPr/>
        </p:nvPicPr>
        <p:blipFill rotWithShape="1">
          <a:blip r:embed="rId3">
            <a:alphaModFix/>
          </a:blip>
          <a:srcRect b="74023" l="35712" r="60814" t="4931"/>
          <a:stretch/>
        </p:blipFill>
        <p:spPr>
          <a:xfrm>
            <a:off x="1895875" y="4445474"/>
            <a:ext cx="423501" cy="4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לבן, צילום מסך&#10;&#10;תוכן בינה מלאכותית גנרטיבית עשוי להיות שגוי." id="286" name="Google Shape;286;p13"/>
          <p:cNvPicPr preferRelativeResize="0"/>
          <p:nvPr/>
        </p:nvPicPr>
        <p:blipFill rotWithShape="1">
          <a:blip r:embed="rId3">
            <a:alphaModFix/>
          </a:blip>
          <a:srcRect b="73893" l="66155" r="30372" t="5061"/>
          <a:stretch/>
        </p:blipFill>
        <p:spPr>
          <a:xfrm>
            <a:off x="6413157" y="2323925"/>
            <a:ext cx="423501" cy="4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3"/>
          <p:cNvSpPr txBox="1"/>
          <p:nvPr/>
        </p:nvSpPr>
        <p:spPr>
          <a:xfrm>
            <a:off x="2319375" y="2267275"/>
            <a:ext cx="29205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Flexibility, agility and strategy switching are a must, there is no single right answer!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2319375" y="4369449"/>
            <a:ext cx="2920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Reinforcement learning provides a big advantage, as it is less predictable and improves in real time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6836650" y="2323925"/>
            <a:ext cx="30435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End-to-End training is key, training the agent how to bid and how to accept offers as a unified process proves itself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90" name="Google Shape;29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3150" y="4445072"/>
            <a:ext cx="423500" cy="423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3"/>
          <p:cNvSpPr txBox="1"/>
          <p:nvPr/>
        </p:nvSpPr>
        <p:spPr>
          <a:xfrm>
            <a:off x="6836650" y="4369449"/>
            <a:ext cx="3043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Gathering as much information as possible and being “tough” until almost the end is needed in a time-based negotiation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2" name="Google Shape;292;p13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ANL 2026</a:t>
            </a:r>
            <a:endParaRPr/>
          </a:p>
        </p:txBody>
      </p:sp>
      <p:sp>
        <p:nvSpPr>
          <p:cNvPr id="298" name="Google Shape;29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</a:t>
            </a:r>
            <a:r>
              <a:rPr lang="en-US"/>
              <a:t>new challenge will be published soon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year the organizers are considering the usage of LLM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this is the first time LLMs will be used the effects it will have on agents behaviour and code is yet to be determined or studied</a:t>
            </a:r>
            <a:endParaRPr/>
          </a:p>
        </p:txBody>
      </p:sp>
      <p:sp>
        <p:nvSpPr>
          <p:cNvPr id="299" name="Google Shape;299;p14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df8683b5e_3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Next Semester Plan</a:t>
            </a:r>
            <a:endParaRPr/>
          </a:p>
        </p:txBody>
      </p:sp>
      <p:sp>
        <p:nvSpPr>
          <p:cNvPr id="305" name="Google Shape;305;g3bdf8683b5e_3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u="sng"/>
              <a:t>Designing a competitive-nature agent</a:t>
            </a:r>
            <a:r>
              <a:rPr lang="en-US"/>
              <a:t> - applying all the insights we’ve discovered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Researching the agent’s score and performance, all while constantly improving and refactoring 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Analyzing the result - statistically, empirically, theoretically, and qualitatively</a:t>
            </a:r>
            <a:endParaRPr/>
          </a:p>
        </p:txBody>
      </p:sp>
      <p:sp>
        <p:nvSpPr>
          <p:cNvPr id="306" name="Google Shape;306;g3bdf8683b5e_3_0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b7acd7123_3_17"/>
          <p:cNvSpPr txBox="1"/>
          <p:nvPr>
            <p:ph type="title"/>
          </p:nvPr>
        </p:nvSpPr>
        <p:spPr>
          <a:xfrm>
            <a:off x="1389650" y="348425"/>
            <a:ext cx="8170200" cy="38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 sz="7500"/>
              <a:t>Thank You For Listening!</a:t>
            </a:r>
            <a:endParaRPr sz="7500"/>
          </a:p>
        </p:txBody>
      </p:sp>
      <p:pic>
        <p:nvPicPr>
          <p:cNvPr id="312" name="Google Shape;312;g3bb7acd7123_3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4525" y="3225550"/>
            <a:ext cx="3117750" cy="31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bb7acd7123_3_17"/>
          <p:cNvSpPr txBox="1"/>
          <p:nvPr>
            <p:ph idx="12" type="sldNum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2026-01-21T10:11:18Z</dcterms:created>
  <dc:creator>Shani Steinmtez Omer</dc:creator>
</cp:coreProperties>
</file>