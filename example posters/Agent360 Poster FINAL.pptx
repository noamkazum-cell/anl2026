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32369760" cy="43342560"/>
          </a:xfrm>
          <a:prstGeom prst="rect">
            <a:avLst/>
          </a:prstGeom>
          <a:solidFill>
            <a:srgbClr val="FFFFFF"/>
          </a:solidFill>
          <a:ln w="4445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32369760" cy="502920"/>
          </a:xfrm>
          <a:prstGeom prst="rect">
            <a:avLst/>
          </a:prstGeom>
          <a:solidFill>
            <a:srgbClr val="0B2C5E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30723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8B1E3F"/>
                </a:solidFill>
                <a:latin typeface="Times New Roman"/>
              </a:rPr>
              <a:t>Agent360: A Concealment-First Bilateral Negotiator for ANL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072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Times New Roman"/>
              </a:rPr>
              <a:t>Noam Kazum  ·  Omer Shani Steinmetz  ·  Dr. Galit Haim  ·  Dr. Raz 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3072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4F8A"/>
                </a:solidFill>
                <a:latin typeface="Calibri"/>
              </a:rPr>
              <a:t>The College of Management Academic Studies  ·  ANL / ANAC 2026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6344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0B2C5E"/>
                </a:solidFill>
                <a:latin typeface="Times New Roman"/>
              </a:rPr>
              <a:t>The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06440"/>
            <a:ext cx="149047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3800" b="1">
                <a:solidFill>
                  <a:srgbClr val="111111"/>
                </a:solidFill>
                <a:latin typeface="Calibri"/>
              </a:rPr>
              <a:t>ANL score = </a:t>
            </a:r>
            <a:r>
              <a:rPr sz="3800" b="1">
                <a:solidFill>
                  <a:srgbClr val="8B1E3F"/>
                </a:solidFill>
                <a:latin typeface="Calibri"/>
              </a:rPr>
              <a:t>Advantage</a:t>
            </a:r>
            <a:r>
              <a:rPr sz="3800" b="1">
                <a:solidFill>
                  <a:srgbClr val="111111"/>
                </a:solidFill>
                <a:latin typeface="Calibri"/>
              </a:rPr>
              <a:t> + </a:t>
            </a:r>
            <a:r>
              <a:rPr sz="3800" b="1">
                <a:solidFill>
                  <a:srgbClr val="1B4F8A"/>
                </a:solidFill>
                <a:latin typeface="Calibri"/>
              </a:rPr>
              <a:t>Concealing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3800" b="1">
                <a:solidFill>
                  <a:srgbClr val="8B1E3F"/>
                </a:solidFill>
                <a:latin typeface="Calibri"/>
              </a:rPr>
              <a:t>Advantage</a:t>
            </a:r>
            <a:r>
              <a:rPr sz="3800" b="1">
                <a:solidFill>
                  <a:srgbClr val="111111"/>
                </a:solidFill>
                <a:latin typeface="Calibri"/>
              </a:rPr>
              <a:t> — close good deals above reserved value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3800" b="1">
                <a:solidFill>
                  <a:srgbClr val="1B4F8A"/>
                </a:solidFill>
                <a:latin typeface="Calibri"/>
              </a:rPr>
              <a:t>Concealing</a:t>
            </a:r>
            <a:r>
              <a:rPr sz="3800" b="1">
                <a:solidFill>
                  <a:srgbClr val="111111"/>
                </a:solidFill>
                <a:latin typeface="Calibri"/>
              </a:rPr>
              <a:t> — hide true preferences from the opponent's learner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3800" b="1">
                <a:solidFill>
                  <a:srgbClr val="0B2C5E"/>
                </a:solidFill>
                <a:latin typeface="Calibri"/>
              </a:rPr>
              <a:t>Design principle: </a:t>
            </a:r>
            <a:r>
              <a:rPr sz="3800" b="1">
                <a:solidFill>
                  <a:srgbClr val="111111"/>
                </a:solidFill>
                <a:latin typeface="Calibri"/>
              </a:rPr>
              <a:t>concealment first, then extract the 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932688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0424160"/>
            <a:ext cx="1490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Bid stream only — no opponent class, no true utility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124712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1247120"/>
            <a:ext cx="4206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8B1E3F"/>
                </a:solidFill>
                <a:latin typeface="Calibri"/>
              </a:rPr>
              <a:t>Bidding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8B1E3F"/>
                </a:solidFill>
                <a:latin typeface="Calibri"/>
              </a:rPr>
              <a:t>Persona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94960" y="11722608"/>
            <a:ext cx="548640" cy="438912"/>
          </a:xfrm>
          <a:prstGeom prst="rightArrow">
            <a:avLst/>
          </a:prstGeom>
          <a:solidFill>
            <a:srgbClr val="1B4F8A"/>
          </a:solidFill>
          <a:ln w="254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1124712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1247120"/>
            <a:ext cx="4206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Opponent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Model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424160" y="11722608"/>
            <a:ext cx="548640" cy="438912"/>
          </a:xfrm>
          <a:prstGeom prst="rightArrow">
            <a:avLst/>
          </a:prstGeom>
          <a:solidFill>
            <a:srgbClr val="1B4F8A"/>
          </a:solidFill>
          <a:ln w="254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09960" y="1124712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D5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60" y="11247120"/>
            <a:ext cx="4206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D5C63"/>
                </a:solidFill>
                <a:latin typeface="Calibri"/>
              </a:rPr>
              <a:t>Deal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D5C63"/>
                </a:solidFill>
                <a:latin typeface="Calibri"/>
              </a:rP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1298448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Bidding Persona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4036040"/>
            <a:ext cx="1490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2C5E"/>
                </a:solidFill>
                <a:latin typeface="Calibri"/>
              </a:rPr>
              <a:t>Relative time  t 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14584680"/>
            <a:ext cx="4602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14584680"/>
            <a:ext cx="46024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8B1E3F"/>
                </a:solidFill>
                <a:latin typeface="Calibri"/>
              </a:rPr>
              <a:t>Decoy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11111"/>
                </a:solidFill>
                <a:latin typeface="Calibri"/>
              </a:rPr>
              <a:t>false signal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727192" y="15087600"/>
            <a:ext cx="402336" cy="384048"/>
          </a:xfrm>
          <a:prstGeom prst="rightArrow">
            <a:avLst/>
          </a:prstGeom>
          <a:solidFill>
            <a:srgbClr val="1B4F8A"/>
          </a:solidFill>
          <a:ln w="254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2680" y="14584680"/>
            <a:ext cx="4602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7A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2680" y="14584680"/>
            <a:ext cx="46024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7A4A12"/>
                </a:solidFill>
                <a:latin typeface="Calibri"/>
              </a:rPr>
              <a:t>Transition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11111"/>
                </a:solidFill>
                <a:latin typeface="Calibri"/>
              </a:rPr>
              <a:t>gradual reveal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878312" y="15087600"/>
            <a:ext cx="402336" cy="384048"/>
          </a:xfrm>
          <a:prstGeom prst="rightArrow">
            <a:avLst/>
          </a:prstGeom>
          <a:solidFill>
            <a:srgbClr val="1B4F8A"/>
          </a:solidFill>
          <a:ln w="254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353800" y="14584680"/>
            <a:ext cx="4602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53800" y="14584680"/>
            <a:ext cx="46024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B4F8A"/>
                </a:solidFill>
                <a:latin typeface="Calibri"/>
              </a:rPr>
              <a:t>Closing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11111"/>
                </a:solidFill>
                <a:latin typeface="Calibri"/>
              </a:rPr>
              <a:t>extract deal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16230600"/>
            <a:ext cx="1490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19" y="16367759"/>
            <a:ext cx="1417320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8B1E3F"/>
                </a:solidFill>
                <a:latin typeface="Calibri"/>
              </a:rPr>
              <a:t>Decoy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Calibri"/>
              </a:rPr>
              <a:t>Wrong issue priorities · maximal mismatch · seat-asymmetric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18242280"/>
            <a:ext cx="1490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7A4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19" y="18379439"/>
            <a:ext cx="1417320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7A4A12"/>
                </a:solidFill>
                <a:latin typeface="Calibri"/>
              </a:rPr>
              <a:t>Transition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Calibri"/>
              </a:rPr>
              <a:t>Mix decoy + truth · slower reveal when opening · early exit if conceding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20253960"/>
            <a:ext cx="1490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19" y="20391119"/>
            <a:ext cx="1417320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1B4F8A"/>
                </a:solidFill>
                <a:latin typeface="Calibri"/>
              </a:rPr>
              <a:t>Closing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Calibri"/>
              </a:rPr>
              <a:t>Blend our utility + theirs · mode caps · discount bait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2357080"/>
            <a:ext cx="1490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8B1E3F"/>
                </a:solidFill>
                <a:latin typeface="Calibri"/>
              </a:rPr>
              <a:t>Seat asymmetry: </a:t>
            </a:r>
            <a:r>
              <a:rPr sz="3200" b="1">
                <a:solidFill>
                  <a:srgbClr val="111111"/>
                </a:solidFill>
                <a:latin typeface="Calibri"/>
              </a:rPr>
              <a:t>opening seat keeps a longer decoy and stricter 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50008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What We Rejected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4597360"/>
            <a:ext cx="14904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8B1E3F"/>
                </a:solidFill>
                <a:latin typeface="Calibri"/>
              </a:rPr>
              <a:t>Reverse-psychology</a:t>
            </a:r>
            <a:r>
              <a:rPr sz="3400" b="1">
                <a:solidFill>
                  <a:srgbClr val="111111"/>
                </a:solidFill>
                <a:latin typeface="Calibri"/>
              </a:rPr>
              <a:t> (truth early) — hurts Concealing vs learners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8B1E3F"/>
                </a:solidFill>
                <a:latin typeface="Calibri"/>
              </a:rPr>
              <a:t>Mid-game escape accept</a:t>
            </a:r>
            <a:r>
              <a:rPr sz="3400" b="1">
                <a:solidFill>
                  <a:srgbClr val="111111"/>
                </a:solidFill>
                <a:latin typeface="Calibri"/>
              </a:rPr>
              <a:t> — took mediocre / deceptive deals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62120" y="466344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Opponent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62120" y="5760720"/>
            <a:ext cx="14904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Smith frequency</a:t>
            </a:r>
            <a:r>
              <a:rPr sz="3400" b="1">
                <a:solidFill>
                  <a:srgbClr val="111111"/>
                </a:solidFill>
                <a:latin typeface="Calibri"/>
              </a:rPr>
              <a:t> — base preference estimate from their bids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Recency · time · issue blends</a:t>
            </a:r>
            <a:r>
              <a:rPr sz="3400" b="1">
                <a:solidFill>
                  <a:srgbClr val="111111"/>
                </a:solidFill>
                <a:latin typeface="Calibri"/>
              </a:rPr>
              <a:t> — trust late and diverse signals more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Trajectory</a:t>
            </a:r>
            <a:r>
              <a:rPr sz="3400" b="1">
                <a:solidFill>
                  <a:srgbClr val="111111"/>
                </a:solidFill>
                <a:latin typeface="Calibri"/>
              </a:rPr>
              <a:t> — concession slope · bait jumps · predicted path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0B2C5E"/>
                </a:solidFill>
                <a:latin typeface="Calibri"/>
              </a:rPr>
              <a:t>Five modes: </a:t>
            </a:r>
            <a:r>
              <a:rPr sz="3400" b="1">
                <a:solidFill>
                  <a:srgbClr val="111111"/>
                </a:solidFill>
                <a:latin typeface="Calibri"/>
              </a:rPr>
              <a:t>mirror · learner · deceptive · conceding · unknown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62120" y="987552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Mode Response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962120" y="10972800"/>
            <a:ext cx="4023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44450">
            <a:solidFill>
              <a:srgbClr val="0D5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962120" y="10972800"/>
            <a:ext cx="4023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D5C63"/>
                </a:solidFill>
                <a:latin typeface="Calibri"/>
              </a:rPr>
              <a:t>Conceding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168360" y="1097280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Early decoy exit · chase agreement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962120" y="12161520"/>
            <a:ext cx="4023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444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62120" y="12161520"/>
            <a:ext cx="4023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F8A"/>
                </a:solidFill>
                <a:latin typeface="Calibri"/>
              </a:rPr>
              <a:t>Learner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68360" y="1216152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Full blend · no bait discount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962120" y="13350240"/>
            <a:ext cx="4023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444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962120" y="13350240"/>
            <a:ext cx="4023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8B1E3F"/>
                </a:solidFill>
                <a:latin typeface="Calibri"/>
              </a:rPr>
              <a:t>Deceptive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168360" y="1335024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Discount Smith · reject bait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962120" y="14538960"/>
            <a:ext cx="4023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4445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62120" y="14538960"/>
            <a:ext cx="4023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2C5E"/>
                </a:solidFill>
                <a:latin typeface="Calibri"/>
              </a:rPr>
              <a:t>Mirror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168360" y="1453896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Plain Smith · anti-mirror bids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962120" y="15727680"/>
            <a:ext cx="4023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44450">
            <a:solidFill>
              <a:srgbClr val="0D5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962120" y="15727680"/>
            <a:ext cx="4023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D5C63"/>
                </a:solidFill>
                <a:latin typeface="Calibri"/>
              </a:rPr>
              <a:t>Unknown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168360" y="1572768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111"/>
                </a:solidFill>
                <a:latin typeface="Calibri"/>
              </a:rPr>
              <a:t>Conservative full blend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62120" y="1709928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Acceptance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62120" y="18196560"/>
            <a:ext cx="14904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111111"/>
                </a:solidFill>
                <a:latin typeface="Calibri"/>
              </a:rPr>
              <a:t>Catastrophe floor near deadline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111111"/>
                </a:solidFill>
                <a:latin typeface="Calibri"/>
              </a:rPr>
              <a:t>Mode aspiration — slope follows opponent mode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111111"/>
                </a:solidFill>
                <a:latin typeface="Calibri"/>
              </a:rPr>
              <a:t>AC-next — as good as our next concealing bid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8B1E3F"/>
                </a:solidFill>
                <a:latin typeface="Calibri"/>
              </a:rPr>
              <a:t>Bait guard — block deceptive utility spikes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62120" y="22128480"/>
            <a:ext cx="14904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B2C5E"/>
                </a:solidFill>
                <a:latin typeface="Times New Roman"/>
              </a:rPr>
              <a:t>Evaluation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62120" y="23225760"/>
            <a:ext cx="149047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Learners</a:t>
            </a:r>
            <a:r>
              <a:rPr sz="3400" b="1">
                <a:solidFill>
                  <a:srgbClr val="111111"/>
                </a:solidFill>
                <a:latin typeface="Calibri"/>
              </a:rPr>
              <a:t>  BOA · MAP · MiCRO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Stress</a:t>
            </a:r>
            <a:r>
              <a:rPr sz="3400" b="1">
                <a:solidFill>
                  <a:srgbClr val="111111"/>
                </a:solidFill>
                <a:latin typeface="Calibri"/>
              </a:rPr>
              <a:t>  time-based NegMAS baselines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1B4F8A"/>
                </a:solidFill>
                <a:latin typeface="Calibri"/>
              </a:rPr>
              <a:t>Sparring</a:t>
            </a:r>
            <a:r>
              <a:rPr sz="3400" b="1">
                <a:solidFill>
                  <a:srgbClr val="111111"/>
                </a:solidFill>
                <a:latin typeface="Calibri"/>
              </a:rPr>
              <a:t>  mirror · bait-switch · strong learners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3400" b="1">
                <a:solidFill>
                  <a:srgbClr val="0B2C5E"/>
                </a:solidFill>
                <a:latin typeface="Calibri"/>
              </a:rPr>
              <a:t>Strong Concealing vs stress · balanced vs learners &amp; deceptive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27249120"/>
            <a:ext cx="31089600" cy="201168"/>
          </a:xfrm>
          <a:prstGeom prst="rect">
            <a:avLst/>
          </a:prstGeom>
          <a:solidFill>
            <a:srgbClr val="0B2C5E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27614880"/>
            <a:ext cx="30815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0B2C5E"/>
                </a:solidFill>
                <a:latin typeface="Times New Roman"/>
              </a:rPr>
              <a:t>Conclusions</a:t>
            </a:r>
          </a:p>
        </p:txBody>
      </p:sp>
      <p:sp>
        <p:nvSpPr>
          <p:cNvPr id="62" name="Cloud 61"/>
          <p:cNvSpPr/>
          <p:nvPr/>
        </p:nvSpPr>
        <p:spPr>
          <a:xfrm>
            <a:off x="1234440" y="28895040"/>
            <a:ext cx="14538960" cy="5989320"/>
          </a:xfrm>
          <a:prstGeom prst="cloud">
            <a:avLst/>
          </a:prstGeom>
          <a:solidFill>
            <a:srgbClr val="B8D9F2"/>
          </a:solidFill>
          <a:ln w="3810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48840" y="29992320"/>
            <a:ext cx="1271016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B2C5E"/>
                </a:solidFill>
                <a:latin typeface="Calibri"/>
              </a:rPr>
              <a:t>Conceal and extract
need separate controls</a:t>
            </a:r>
          </a:p>
        </p:txBody>
      </p:sp>
      <p:sp>
        <p:nvSpPr>
          <p:cNvPr id="64" name="Cloud 63"/>
          <p:cNvSpPr/>
          <p:nvPr/>
        </p:nvSpPr>
        <p:spPr>
          <a:xfrm>
            <a:off x="17145000" y="28895040"/>
            <a:ext cx="14538960" cy="5989320"/>
          </a:xfrm>
          <a:prstGeom prst="cloud">
            <a:avLst/>
          </a:prstGeom>
          <a:solidFill>
            <a:srgbClr val="B8D9F2"/>
          </a:solidFill>
          <a:ln w="3810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59400" y="29992320"/>
            <a:ext cx="1271016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B2C5E"/>
                </a:solidFill>
                <a:latin typeface="Calibri"/>
              </a:rPr>
              <a:t>Test learners, stress
and deceptive panels</a:t>
            </a:r>
          </a:p>
        </p:txBody>
      </p:sp>
      <p:sp>
        <p:nvSpPr>
          <p:cNvPr id="66" name="Cloud 65"/>
          <p:cNvSpPr/>
          <p:nvPr/>
        </p:nvSpPr>
        <p:spPr>
          <a:xfrm>
            <a:off x="1234440" y="35250120"/>
            <a:ext cx="14538960" cy="5989320"/>
          </a:xfrm>
          <a:prstGeom prst="cloud">
            <a:avLst/>
          </a:prstGeom>
          <a:solidFill>
            <a:srgbClr val="B8D9F2"/>
          </a:solidFill>
          <a:ln w="3810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48840" y="36347400"/>
            <a:ext cx="1271016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B2C5E"/>
                </a:solidFill>
                <a:latin typeface="Calibri"/>
              </a:rPr>
              <a:t>Seat asymmetry
improves learner matchups</a:t>
            </a:r>
          </a:p>
        </p:txBody>
      </p:sp>
      <p:sp>
        <p:nvSpPr>
          <p:cNvPr id="68" name="Cloud 67"/>
          <p:cNvSpPr/>
          <p:nvPr/>
        </p:nvSpPr>
        <p:spPr>
          <a:xfrm>
            <a:off x="17145000" y="35250120"/>
            <a:ext cx="14538960" cy="5989320"/>
          </a:xfrm>
          <a:prstGeom prst="cloud">
            <a:avLst/>
          </a:prstGeom>
          <a:solidFill>
            <a:srgbClr val="B8D9F2"/>
          </a:solidFill>
          <a:ln w="38100"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059400" y="36347400"/>
            <a:ext cx="1271016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B2C5E"/>
                </a:solidFill>
                <a:latin typeface="Calibri"/>
              </a:rPr>
              <a:t>Decoy early → reveal late
no privileged info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41605200"/>
            <a:ext cx="3072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4F8A"/>
                </a:solidFill>
                <a:latin typeface="Calibri"/>
              </a:rPr>
              <a:t>ANAC 2026 / ANL  ·  NegMAS SAO  ·  Agent360 final report, College of Management,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