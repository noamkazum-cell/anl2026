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43891200"/>
  <p:notesSz cx="438912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Phase 1 — Anchor  (linear 1.0 → 0.7)</c:v>
                </c:pt>
              </c:strCache>
            </c:strRef>
          </c:tx>
          <c:spPr>
            <a:ln w="88900" cap="flat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0.0</c:v>
                </c:pt>
                <c:pt idx="1">
                  <c:v>  </c:v>
                </c:pt>
                <c:pt idx="2">
                  <c:v>   </c:v>
                </c:pt>
                <c:pt idx="3">
                  <c:v>    </c:v>
                </c:pt>
                <c:pt idx="4">
                  <c:v>0.2</c:v>
                </c:pt>
                <c:pt idx="5">
                  <c:v>      </c:v>
                </c:pt>
                <c:pt idx="6">
                  <c:v>       </c:v>
                </c:pt>
                <c:pt idx="7">
                  <c:v>        </c:v>
                </c:pt>
                <c:pt idx="8">
                  <c:v>0.4</c:v>
                </c:pt>
                <c:pt idx="9">
                  <c:v>          </c:v>
                </c:pt>
                <c:pt idx="10">
                  <c:v>           </c:v>
                </c:pt>
                <c:pt idx="11">
                  <c:v>            </c:v>
                </c:pt>
                <c:pt idx="12">
                  <c:v>0.6</c:v>
                </c:pt>
                <c:pt idx="13">
                  <c:v>              </c:v>
                </c:pt>
                <c:pt idx="14">
                  <c:v>               </c:v>
                </c:pt>
                <c:pt idx="15">
                  <c:v>                </c:v>
                </c:pt>
                <c:pt idx="16">
                  <c:v>0.8</c:v>
                </c:pt>
                <c:pt idx="17">
                  <c:v>                  </c:v>
                </c:pt>
                <c:pt idx="18">
                  <c:v>                   </c:v>
                </c:pt>
                <c:pt idx="19">
                  <c:v>                    </c:v>
                </c:pt>
                <c:pt idx="20">
                  <c:v>1.0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</c:v>
                </c:pt>
                <c:pt idx="1">
                  <c:v>0.96250000000000002</c:v>
                </c:pt>
                <c:pt idx="2">
                  <c:v>0.92500000000000004</c:v>
                </c:pt>
                <c:pt idx="3">
                  <c:v>0.88750000000000007</c:v>
                </c:pt>
                <c:pt idx="4">
                  <c:v>0.85</c:v>
                </c:pt>
                <c:pt idx="5">
                  <c:v>0.8125</c:v>
                </c:pt>
                <c:pt idx="6">
                  <c:v>0.77500000000000002</c:v>
                </c:pt>
                <c:pt idx="7">
                  <c:v>0.73750000000000004</c:v>
                </c:pt>
                <c:pt idx="8">
                  <c:v>0.7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D99-3A4F-A2F4-DAFE365A95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Phase 2 — Settle  (aspiration, e = 2.5)</c:v>
                </c:pt>
              </c:strCache>
            </c:strRef>
          </c:tx>
          <c:spPr>
            <a:ln w="88900" cap="flat">
              <a:solidFill>
                <a:srgbClr val="1B3A6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0.0</c:v>
                </c:pt>
                <c:pt idx="1">
                  <c:v>  </c:v>
                </c:pt>
                <c:pt idx="2">
                  <c:v>   </c:v>
                </c:pt>
                <c:pt idx="3">
                  <c:v>    </c:v>
                </c:pt>
                <c:pt idx="4">
                  <c:v>0.2</c:v>
                </c:pt>
                <c:pt idx="5">
                  <c:v>      </c:v>
                </c:pt>
                <c:pt idx="6">
                  <c:v>       </c:v>
                </c:pt>
                <c:pt idx="7">
                  <c:v>        </c:v>
                </c:pt>
                <c:pt idx="8">
                  <c:v>0.4</c:v>
                </c:pt>
                <c:pt idx="9">
                  <c:v>          </c:v>
                </c:pt>
                <c:pt idx="10">
                  <c:v>           </c:v>
                </c:pt>
                <c:pt idx="11">
                  <c:v>            </c:v>
                </c:pt>
                <c:pt idx="12">
                  <c:v>0.6</c:v>
                </c:pt>
                <c:pt idx="13">
                  <c:v>              </c:v>
                </c:pt>
                <c:pt idx="14">
                  <c:v>               </c:v>
                </c:pt>
                <c:pt idx="15">
                  <c:v>                </c:v>
                </c:pt>
                <c:pt idx="16">
                  <c:v>0.8</c:v>
                </c:pt>
                <c:pt idx="17">
                  <c:v>                  </c:v>
                </c:pt>
                <c:pt idx="18">
                  <c:v>                   </c:v>
                </c:pt>
                <c:pt idx="19">
                  <c:v>                    </c:v>
                </c:pt>
                <c:pt idx="20">
                  <c:v>1.0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8">
                  <c:v>0.7</c:v>
                </c:pt>
                <c:pt idx="9">
                  <c:v>0.69929835904785986</c:v>
                </c:pt>
                <c:pt idx="10">
                  <c:v>0.69603091939826789</c:v>
                </c:pt>
                <c:pt idx="11">
                  <c:v>0.68906249999999991</c:v>
                </c:pt>
                <c:pt idx="12">
                  <c:v>0.67754748953151456</c:v>
                </c:pt>
                <c:pt idx="13">
                  <c:v>0.66077707838042254</c:v>
                </c:pt>
                <c:pt idx="14">
                  <c:v>0.63812815664617717</c:v>
                </c:pt>
                <c:pt idx="15">
                  <c:v>0.60903799401794823</c:v>
                </c:pt>
                <c:pt idx="16">
                  <c:v>0.57298942074457582</c:v>
                </c:pt>
                <c:pt idx="17">
                  <c:v>0.52950124862993864</c:v>
                </c:pt>
                <c:pt idx="18">
                  <c:v>0.47812164915878685</c:v>
                </c:pt>
                <c:pt idx="19">
                  <c:v>0.41842334712860474</c:v>
                </c:pt>
                <c:pt idx="20">
                  <c:v>0.35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D99-3A4F-A2F4-DAFE365A95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2400" b="0" i="0" u="none" strike="noStrike">
                    <a:solidFill>
                      <a:srgbClr val="5A6270"/>
                    </a:solidFill>
                    <a:latin typeface="Calibri"/>
                  </a:defRPr>
                </a:pPr>
                <a:r>
                  <a:rPr lang="af-ZA" sz="2400" b="0" i="0" u="none" strike="noStrike">
                    <a:solidFill>
                      <a:srgbClr val="5A6270"/>
                    </a:solidFill>
                    <a:latin typeface="Calibri"/>
                  </a:rPr>
                  <a:t>Relative time  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200" b="0" i="0" u="none" strike="noStrike">
                <a:solidFill>
                  <a:srgbClr val="5A62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2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2400" b="0" i="0" u="none" strike="noStrike">
                    <a:solidFill>
                      <a:srgbClr val="5A6270"/>
                    </a:solidFill>
                    <a:latin typeface="Calibri"/>
                  </a:defRPr>
                </a:pPr>
                <a:r>
                  <a:rPr lang="af-ZA" sz="2400" b="0" i="0" u="none" strike="noStrike">
                    <a:solidFill>
                      <a:srgbClr val="5A6270"/>
                    </a:solidFill>
                    <a:latin typeface="Calibri"/>
                  </a:rPr>
                  <a:t>Utility threshold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200" b="0" i="0" u="none" strike="noStrike">
                <a:solidFill>
                  <a:srgbClr val="5A62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2400">
              <a:solidFill>
                <a:srgbClr val="1A1A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24871363" y="0"/>
            <a:ext cx="19019837" cy="16510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9525" y="0"/>
            <a:ext cx="19019838" cy="16510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DE8E89D4-4544-C545-A3DE-CB46F26B03AB}" type="datetimeFigureOut">
              <a:rPr lang="he-IL" smtClean="0"/>
              <a:t>י"ב/אב/תשפ"ו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7780000" y="4114800"/>
            <a:ext cx="8331200" cy="11109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4389438" y="15841663"/>
            <a:ext cx="35112325" cy="12961937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24871363" y="31268988"/>
            <a:ext cx="19019837" cy="1649412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9525" y="31268988"/>
            <a:ext cx="19019838" cy="1649412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D546219-BAF1-EE44-9A22-9D56CD3CA9A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64002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278320" cy="43251120"/>
          </a:xfrm>
          <a:prstGeom prst="rect">
            <a:avLst/>
          </a:prstGeom>
          <a:ln w="381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822960"/>
            <a:ext cx="305409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0"/>
              </a:lnSpc>
              <a:buNone/>
            </a:pPr>
            <a:r>
              <a:rPr lang="en-US" sz="9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GunnerAgent: A Two-Layer Negotiation Agent for the ANAC 2026 Human–Agent Negotiation League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1188720" y="3931920"/>
            <a:ext cx="3054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Omer Shani Steinmetz · Noam Kazum · Dr. Galit Haim · Dr. Raz Lin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188720" y="4617720"/>
            <a:ext cx="3054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College of Management Academic Studies, Rishon LeZion, Israel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88720" y="5166360"/>
            <a:ext cx="3054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the HAN League, ANAC 2026  ·  IJCAI 2026 Competition Track  ·  June 2026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7280" y="6080760"/>
            <a:ext cx="14904720" cy="6138672"/>
          </a:xfrm>
          <a:prstGeom prst="rect">
            <a:avLst/>
          </a:prstGeom>
          <a:solidFill>
            <a:srgbClr val="FFFFFF"/>
          </a:solidFill>
          <a:ln w="19050">
            <a:solidFill>
              <a:srgbClr val="C9C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6300216"/>
            <a:ext cx="1399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Background &amp; Objectives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1554480" y="7379208"/>
            <a:ext cx="13990320" cy="474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3904"/>
              </a:lnSpc>
              <a:spcAft>
                <a:spcPts val="1000"/>
              </a:spcAft>
              <a:buSzPct val="100000"/>
              <a:buChar char="▪"/>
            </a:pP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 2026 introduces the </a:t>
            </a: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Human–Agent Negotiation (HAN) League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agent bargains with a </a:t>
            </a: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the Alternating Offers Protocol, with free-text messages.</a:t>
            </a:r>
            <a:endParaRPr lang="en-US" sz="3200" dirty="0"/>
          </a:p>
          <a:p>
            <a:pPr marL="279400" indent="-279400">
              <a:lnSpc>
                <a:spcPts val="3904"/>
              </a:lnSpc>
              <a:spcAft>
                <a:spcPts val="1000"/>
              </a:spcAft>
              <a:buSzPct val="100000"/>
              <a:buChar char="▪"/>
            </a:pP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five-minute clock allows only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offers per side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HAN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the partner's utility function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200" dirty="0"/>
          </a:p>
          <a:p>
            <a:pPr marL="279400" indent="-279400">
              <a:lnSpc>
                <a:spcPts val="3904"/>
              </a:lnSpc>
              <a:spcAft>
                <a:spcPts val="1000"/>
              </a:spcAft>
              <a:buSzPct val="100000"/>
              <a:buChar char="▪"/>
            </a:pP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</a:t>
            </a: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won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on the partner's </a:t>
            </a: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agent.</a:t>
            </a:r>
            <a:endParaRPr lang="en-US" sz="3200" dirty="0"/>
          </a:p>
          <a:p>
            <a:pPr marL="279400" indent="-279400">
              <a:lnSpc>
                <a:spcPts val="3904"/>
              </a:lnSpc>
              <a:spcAft>
                <a:spcPts val="1000"/>
              </a:spcAft>
              <a:buSzPct val="100000"/>
              <a:buChar char="▪"/>
            </a:pP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value in ~10 rounds, sound human, and keep the strategy reproducible and independent of the LLM.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1097280" y="13088112"/>
            <a:ext cx="14904720" cy="11197336"/>
          </a:xfrm>
          <a:prstGeom prst="rect">
            <a:avLst/>
          </a:prstGeom>
          <a:solidFill>
            <a:srgbClr val="FFFFFF"/>
          </a:solidFill>
          <a:ln w="19050">
            <a:solidFill>
              <a:srgbClr val="C9C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3307568"/>
            <a:ext cx="1399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Two-Layer Architecture</a:t>
            </a:r>
            <a:endParaRPr lang="en-US" sz="5000" dirty="0"/>
          </a:p>
        </p:txBody>
      </p:sp>
      <p:sp>
        <p:nvSpPr>
          <p:cNvPr id="12" name="Shape 10"/>
          <p:cNvSpPr/>
          <p:nvPr/>
        </p:nvSpPr>
        <p:spPr>
          <a:xfrm>
            <a:off x="3063240" y="1438656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F4F6F9"/>
          </a:solidFill>
          <a:ln w="25400">
            <a:solidFill>
              <a:srgbClr val="C9CD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438656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Partner's offer + message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348472" y="15438120"/>
            <a:ext cx="402336" cy="548640"/>
          </a:xfrm>
          <a:prstGeom prst="downArrow">
            <a:avLst/>
          </a:prstGeom>
          <a:solidFill>
            <a:srgbClr val="9AA3AF"/>
          </a:solidFill>
          <a:ln w="6350">
            <a:solidFill>
              <a:srgbClr val="9A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3240" y="15986760"/>
            <a:ext cx="10972800" cy="1737360"/>
          </a:xfrm>
          <a:prstGeom prst="roundRect">
            <a:avLst>
              <a:gd name="adj" fmla="val 6316"/>
            </a:avLst>
          </a:prstGeom>
          <a:solidFill>
            <a:srgbClr val="FBEFE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1598676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7A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GunnerCore</a:t>
            </a:r>
            <a:endParaRPr lang="en-US" sz="3000" dirty="0"/>
          </a:p>
          <a:p>
            <a:pPr marL="0" indent="0" algn="ctr">
              <a:lnSpc>
                <a:spcPts val="3400"/>
              </a:lnSpc>
              <a:buNone/>
            </a:pPr>
            <a:r>
              <a:rPr lang="en-US" sz="2400" i="1" dirty="0">
                <a:solidFill>
                  <a:srgbClr val="7A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NegMAS SAONegotiator — decides accept / next offer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8348472" y="17724120"/>
            <a:ext cx="402336" cy="548640"/>
          </a:xfrm>
          <a:prstGeom prst="downArrow">
            <a:avLst/>
          </a:prstGeom>
          <a:solidFill>
            <a:srgbClr val="9AA3AF"/>
          </a:solidFill>
          <a:ln w="6350">
            <a:solidFill>
              <a:srgbClr val="9AA3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97112" y="17678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is final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063240" y="18272760"/>
            <a:ext cx="10972800" cy="1737360"/>
          </a:xfrm>
          <a:prstGeom prst="roundRect">
            <a:avLst>
              <a:gd name="adj" fmla="val 6316"/>
            </a:avLst>
          </a:prstGeom>
          <a:solidFill>
            <a:srgbClr val="EEF2FA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1827276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GunnerAgent  (LLM wrapper)</a:t>
            </a:r>
            <a:endParaRPr lang="en-US" sz="3000" dirty="0"/>
          </a:p>
          <a:p>
            <a:pPr marL="0" indent="0" algn="ctr">
              <a:lnSpc>
                <a:spcPts val="3400"/>
              </a:lnSpc>
              <a:buNone/>
            </a:pPr>
            <a:r>
              <a:rPr lang="en-US" sz="2400" i="1" dirty="0">
                <a:solidFill>
                  <a:srgbClr val="1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LLMMetaNegotiator — </a:t>
            </a:r>
            <a:r>
              <a:rPr lang="he-IL" sz="2400" i="1" dirty="0" err="1">
                <a:solidFill>
                  <a:srgbClr val="1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r>
              <a:rPr lang="he-IL" sz="2400" i="1" dirty="0">
                <a:solidFill>
                  <a:srgbClr val="1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i="1" dirty="0">
                <a:solidFill>
                  <a:srgbClr val="1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only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8348472" y="20010120"/>
            <a:ext cx="402336" cy="548640"/>
          </a:xfrm>
          <a:prstGeom prst="downArrow">
            <a:avLst/>
          </a:prstGeom>
          <a:solidFill>
            <a:srgbClr val="9AA3AF"/>
          </a:solidFill>
          <a:ln w="6350">
            <a:solidFill>
              <a:srgbClr val="9A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63240" y="2055876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F4F6F9"/>
          </a:solidFill>
          <a:ln w="25400">
            <a:solidFill>
              <a:srgbClr val="C9CD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63240" y="2055876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 decision  +  message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554480" y="21930360"/>
            <a:ext cx="13990320" cy="22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3416"/>
              </a:lnSpc>
              <a:spcAft>
                <a:spcPts val="1000"/>
              </a:spcAft>
              <a:buSzPct val="100000"/>
              <a:buChar char="▪"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picks the offer or the accept decision. </a:t>
            </a: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timeout or malformed JSON costs a message, never a move </a:t>
            </a:r>
            <a:r>
              <a:rPr lang="he-IL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fixed fallback line is sent.</a:t>
            </a:r>
            <a:endParaRPr lang="en-US" sz="2800" dirty="0"/>
          </a:p>
          <a:p>
            <a:pPr marL="279400" indent="-279400">
              <a:lnSpc>
                <a:spcPts val="3416"/>
              </a:lnSpc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fixed by league rules (qwen3:4b via Ollama); inputs are verbal only, so </a:t>
            </a: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never reach the model</a:t>
            </a: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1097280" y="25154128"/>
            <a:ext cx="14904720" cy="16973296"/>
          </a:xfrm>
          <a:prstGeom prst="rect">
            <a:avLst/>
          </a:prstGeom>
          <a:solidFill>
            <a:srgbClr val="FFFFFF"/>
          </a:solidFill>
          <a:ln w="19050">
            <a:solidFill>
              <a:srgbClr val="C9C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4480" y="25373584"/>
            <a:ext cx="1399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Two-Phase Concession Curve</a:t>
            </a:r>
            <a:endParaRPr lang="en-US" sz="5000" dirty="0"/>
          </a:p>
        </p:txBody>
      </p:sp>
      <p:sp>
        <p:nvSpPr>
          <p:cNvPr id="27" name="Text 25"/>
          <p:cNvSpPr/>
          <p:nvPr/>
        </p:nvSpPr>
        <p:spPr>
          <a:xfrm>
            <a:off x="1554480" y="26452576"/>
            <a:ext cx="1399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aspiration(t) = (M − rv)(1 − t</a:t>
            </a:r>
            <a:r>
              <a:rPr lang="en-US" sz="2300" i="1" baseline="30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r>
              <a:rPr lang="en-US" sz="32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+ rv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554480" y="27092656"/>
            <a:ext cx="13990320" cy="165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exponent survives ~10 turns: 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Boulware </a:t>
            </a: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itself and reads as robotic, 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Conceder </a:t>
            </a: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away value at once, 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</a:t>
            </a: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predictable </a:t>
            </a:r>
            <a:r>
              <a:rPr lang="he-IL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partner just waits for the last turn.</a:t>
            </a:r>
            <a:endParaRPr lang="en-US" sz="28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1554480" y="28795472"/>
          <a:ext cx="13990320" cy="5394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Shape 27"/>
          <p:cNvSpPr/>
          <p:nvPr/>
        </p:nvSpPr>
        <p:spPr>
          <a:xfrm>
            <a:off x="1554480" y="34510472"/>
            <a:ext cx="6812280" cy="2240280"/>
          </a:xfrm>
          <a:prstGeom prst="rect">
            <a:avLst/>
          </a:prstGeom>
          <a:solidFill>
            <a:srgbClr val="FBEFE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810512" y="34656776"/>
            <a:ext cx="6300216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7A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</a:t>
            </a:r>
            <a:r>
              <a:rPr lang="he-IL" sz="2600" b="1" dirty="0">
                <a:solidFill>
                  <a:srgbClr val="7A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b="1" dirty="0">
                <a:solidFill>
                  <a:srgbClr val="7A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Anchor   (t &lt; 0.4)
</a:t>
            </a: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1.0 → a fixed 0.7 floor. The floor does not scale with rv: an rv-scaled floor pinned the threshold near 1.0 and froze the agent.</a:t>
            </a:r>
            <a:endParaRPr lang="en-US" sz="2600" dirty="0"/>
          </a:p>
        </p:txBody>
      </p:sp>
      <p:sp>
        <p:nvSpPr>
          <p:cNvPr id="32" name="Shape 29"/>
          <p:cNvSpPr/>
          <p:nvPr/>
        </p:nvSpPr>
        <p:spPr>
          <a:xfrm>
            <a:off x="8732520" y="34510472"/>
            <a:ext cx="6812280" cy="2240280"/>
          </a:xfrm>
          <a:prstGeom prst="rect">
            <a:avLst/>
          </a:prstGeom>
          <a:solidFill>
            <a:srgbClr val="EEF2FA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88552" y="34656776"/>
            <a:ext cx="6300216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1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</a:t>
            </a:r>
            <a:r>
              <a:rPr lang="he-IL" sz="2600" b="1" dirty="0">
                <a:solidFill>
                  <a:srgbClr val="1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b="1" dirty="0">
                <a:solidFill>
                  <a:srgbClr val="1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Settle   (t ≥ 0.4)
</a:t>
            </a: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 curve, e = 2.5, from 0.7 to max(1.5·rv, 0.35). Holds near 0.7, then concedes sharply — time pressure does the rest.</a:t>
            </a:r>
            <a:endParaRPr lang="en-US" sz="2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54480" y="37116512"/>
          <a:ext cx="13990320" cy="390448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t_split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Anchors clearly, still leaves rounds to bargain.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Phase-1 floor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value a human still reads as a real concession.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 (Phase 2)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Neither robotic repetition nor premature concession.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floor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max(1.5·rv, 0.35)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Secures a profit over rv; keeps an agreement zone.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max_repeats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 identical proposals so the agent stays dynamic.</a:t>
                      </a:r>
                      <a:endParaRPr lang="en-US" sz="2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Text 31"/>
          <p:cNvSpPr/>
          <p:nvPr/>
        </p:nvSpPr>
        <p:spPr>
          <a:xfrm>
            <a:off x="1554480" y="41231312"/>
            <a:ext cx="1399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3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report gives the Phase-2 floor as 0.3 in prose but max(1.5·rv, 0.35) in its table; the table value is used here.</a:t>
            </a:r>
            <a:endParaRPr lang="en-US" sz="2300" dirty="0"/>
          </a:p>
        </p:txBody>
      </p:sp>
      <p:sp>
        <p:nvSpPr>
          <p:cNvPr id="36" name="Shape 32"/>
          <p:cNvSpPr/>
          <p:nvPr/>
        </p:nvSpPr>
        <p:spPr>
          <a:xfrm>
            <a:off x="16916400" y="6080760"/>
            <a:ext cx="14904720" cy="9650984"/>
          </a:xfrm>
          <a:prstGeom prst="rect">
            <a:avLst/>
          </a:prstGeom>
          <a:solidFill>
            <a:srgbClr val="FFFFFF"/>
          </a:solidFill>
          <a:ln w="19050">
            <a:solidFill>
              <a:srgbClr val="C9CDD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7373600" y="6300216"/>
            <a:ext cx="1399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Adaptive Opponent Model</a:t>
            </a:r>
            <a:endParaRPr lang="en-US" sz="5000" dirty="0"/>
          </a:p>
        </p:txBody>
      </p:sp>
      <p:sp>
        <p:nvSpPr>
          <p:cNvPr id="38" name="Text 34"/>
          <p:cNvSpPr/>
          <p:nvPr/>
        </p:nvSpPr>
        <p:spPr>
          <a:xfrm>
            <a:off x="17373600" y="7379208"/>
            <a:ext cx="13990320" cy="251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3904"/>
              </a:lnSpc>
              <a:spcAft>
                <a:spcPts val="1000"/>
              </a:spcAft>
              <a:buSzPct val="100000"/>
              <a:buChar char="▪"/>
            </a:pP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models fail</a:t>
            </a:r>
            <a:r>
              <a:rPr lang="he-IL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HardHeaded, CUHK and Smith need hundreds of rounds near preferred outcomes; in HAN all collapse to a zero-sum proxy.</a:t>
            </a:r>
            <a:endParaRPr lang="en-US" sz="3200" dirty="0"/>
          </a:p>
          <a:p>
            <a:pPr marL="279400" indent="-279400">
              <a:lnSpc>
                <a:spcPts val="3904"/>
              </a:lnSpc>
              <a:spcAft>
                <a:spcPts val="1000"/>
              </a:spcAft>
              <a:buSzPct val="100000"/>
              <a:buChar char="▪"/>
            </a:pP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works: 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partner's </a:t>
            </a: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offer as a preference template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only offer not yet distorted by concession.</a:t>
            </a:r>
            <a:endParaRPr lang="en-US" sz="3200" dirty="0"/>
          </a:p>
        </p:txBody>
      </p:sp>
      <p:sp>
        <p:nvSpPr>
          <p:cNvPr id="39" name="Shape 35"/>
          <p:cNvSpPr/>
          <p:nvPr/>
        </p:nvSpPr>
        <p:spPr>
          <a:xfrm>
            <a:off x="20482560" y="9936480"/>
            <a:ext cx="7772400" cy="1051560"/>
          </a:xfrm>
          <a:prstGeom prst="roundRect">
            <a:avLst>
              <a:gd name="adj" fmla="val 8696"/>
            </a:avLst>
          </a:prstGeom>
          <a:solidFill>
            <a:srgbClr val="F4F6F9"/>
          </a:solidFill>
          <a:ln w="25400">
            <a:solidFill>
              <a:srgbClr val="5A627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20482560" y="993648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issues?</a:t>
            </a:r>
            <a:endParaRPr lang="en-US" sz="3000" dirty="0"/>
          </a:p>
        </p:txBody>
      </p:sp>
      <p:sp>
        <p:nvSpPr>
          <p:cNvPr id="41" name="Shape 37"/>
          <p:cNvSpPr/>
          <p:nvPr/>
        </p:nvSpPr>
        <p:spPr>
          <a:xfrm>
            <a:off x="20756880" y="11445240"/>
            <a:ext cx="7223760" cy="0"/>
          </a:xfrm>
          <a:prstGeom prst="line">
            <a:avLst/>
          </a:prstGeom>
          <a:noFill/>
          <a:ln w="38100">
            <a:solidFill>
              <a:srgbClr val="9AA3AF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24368760" y="10988040"/>
            <a:ext cx="0" cy="457200"/>
          </a:xfrm>
          <a:prstGeom prst="line">
            <a:avLst/>
          </a:prstGeom>
          <a:noFill/>
          <a:ln w="38100">
            <a:solidFill>
              <a:srgbClr val="9AA3AF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20583144" y="11445240"/>
            <a:ext cx="347472" cy="502920"/>
          </a:xfrm>
          <a:prstGeom prst="downArrow">
            <a:avLst/>
          </a:prstGeom>
          <a:solidFill>
            <a:srgbClr val="9AA3AF"/>
          </a:solidFill>
          <a:ln w="6350">
            <a:solidFill>
              <a:srgbClr val="9AA3AF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27806904" y="11445240"/>
            <a:ext cx="347472" cy="502920"/>
          </a:xfrm>
          <a:prstGeom prst="downArrow">
            <a:avLst/>
          </a:prstGeom>
          <a:solidFill>
            <a:srgbClr val="9AA3AF"/>
          </a:solidFill>
          <a:ln w="6350">
            <a:solidFill>
              <a:srgbClr val="9AA3AF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7373600" y="11993880"/>
            <a:ext cx="6766560" cy="2057400"/>
          </a:xfrm>
          <a:prstGeom prst="rect">
            <a:avLst/>
          </a:prstGeom>
          <a:solidFill>
            <a:srgbClr val="FBEFE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7629632" y="12140184"/>
            <a:ext cx="625449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7A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 issues   (buyer–seller)
</a:t>
            </a: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template match </a:t>
            </a:r>
            <a:r>
              <a:rPr lang="he-IL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first offer is informative on every issue.</a:t>
            </a:r>
            <a:endParaRPr lang="en-US" sz="2600" dirty="0"/>
          </a:p>
        </p:txBody>
      </p:sp>
      <p:sp>
        <p:nvSpPr>
          <p:cNvPr id="47" name="Shape 43"/>
          <p:cNvSpPr/>
          <p:nvPr/>
        </p:nvSpPr>
        <p:spPr>
          <a:xfrm>
            <a:off x="24597360" y="11993880"/>
            <a:ext cx="6766560" cy="2057400"/>
          </a:xfrm>
          <a:prstGeom prst="rect">
            <a:avLst/>
          </a:prstGeom>
          <a:solidFill>
            <a:srgbClr val="EEF2FA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24853392" y="12140184"/>
            <a:ext cx="625449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1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issues   (resource split)
</a:t>
            </a: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match weighted by issue importance, learned from how stable each issue is across offers.</a:t>
            </a:r>
            <a:endParaRPr lang="en-US" sz="2600" dirty="0"/>
          </a:p>
        </p:txBody>
      </p:sp>
      <p:sp>
        <p:nvSpPr>
          <p:cNvPr id="49" name="Text 45"/>
          <p:cNvSpPr/>
          <p:nvPr/>
        </p:nvSpPr>
        <p:spPr>
          <a:xfrm>
            <a:off x="17373600" y="14371320"/>
            <a:ext cx="13990320" cy="1268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3416"/>
              </a:lnSpc>
              <a:spcAft>
                <a:spcPts val="1000"/>
              </a:spcAft>
              <a:buSzPct val="100000"/>
              <a:buChar char="▪"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needs no scenario metadata — only the issue count. It ranks candidates in the propose loop and never affects acceptance.</a:t>
            </a:r>
            <a:endParaRPr lang="en-US" sz="2800" dirty="0"/>
          </a:p>
        </p:txBody>
      </p:sp>
      <p:sp>
        <p:nvSpPr>
          <p:cNvPr id="57" name="Shape 52"/>
          <p:cNvSpPr/>
          <p:nvPr/>
        </p:nvSpPr>
        <p:spPr>
          <a:xfrm>
            <a:off x="16916400" y="16321786"/>
            <a:ext cx="14904720" cy="15788386"/>
          </a:xfrm>
          <a:prstGeom prst="rect">
            <a:avLst/>
          </a:prstGeom>
          <a:solidFill>
            <a:srgbClr val="FFFFFF"/>
          </a:solidFill>
          <a:ln w="19050">
            <a:solidFill>
              <a:srgbClr val="C9CDD4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17373600" y="16541242"/>
            <a:ext cx="1399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Message Layer </a:t>
            </a:r>
            <a:r>
              <a:rPr lang="he-IL" sz="5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r>
              <a:rPr lang="en-US" sz="5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Modular Prompt</a:t>
            </a:r>
            <a:endParaRPr lang="en-US" sz="5000" dirty="0"/>
          </a:p>
        </p:txBody>
      </p:sp>
      <p:sp>
        <p:nvSpPr>
          <p:cNvPr id="59" name="Text 54"/>
          <p:cNvSpPr/>
          <p:nvPr/>
        </p:nvSpPr>
        <p:spPr>
          <a:xfrm>
            <a:off x="17373600" y="17620234"/>
            <a:ext cx="13990320" cy="1439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only </a:t>
            </a:r>
            <a:r>
              <a:rPr lang="he-IL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core fixes the move, the LLM (qwen3:4b, run locally via Ollama) writes the message that goes with it. It never selects the offer and never decides whether to accept.</a:t>
            </a:r>
          </a:p>
          <a:p>
            <a:pPr marL="279400" indent="-279400">
              <a:lnSpc>
                <a:spcPts val="3600"/>
              </a:lnSpc>
              <a:spcAft>
                <a:spcPts val="800"/>
              </a:spcAft>
              <a:buSzPct val="100000"/>
              <a:buChar char="▪"/>
            </a:pP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prompt: 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round prompt is assembled from small functions, one per concern — global rules, the current-move brief, a reading of the partner's last action, the offer line, and the output format — so any one can be revised or reordered without disturbing the rest.</a:t>
            </a:r>
          </a:p>
          <a:p>
            <a:pPr marL="279400" indent="-279400">
              <a:lnSpc>
                <a:spcPts val="3600"/>
              </a:lnSpc>
              <a:spcAft>
                <a:spcPts val="800"/>
              </a:spcAft>
              <a:buSzPct val="100000"/>
              <a:buChar char="▪"/>
            </a:pP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&amp; partner labels: 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 maps to one of seven labels — opening, large concession, small adjustment, holding firm, repeating, re-raising, accepting </a:t>
            </a:r>
            <a:r>
              <a:rPr lang="he-IL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with a fixed tone and a one-line brief, so the message matches the move. A lighter reading of the partner's last action lets it reply in kind.</a:t>
            </a:r>
          </a:p>
          <a:p>
            <a:pPr marL="279400" indent="-279400">
              <a:lnSpc>
                <a:spcPts val="3600"/>
              </a:lnSpc>
              <a:spcAft>
                <a:spcPts val="800"/>
              </a:spcAft>
              <a:buSzPct val="100000"/>
              <a:buChar char="▪"/>
            </a:pP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information: 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a verbal description only — never the utility values, reservation value or issue priorities — so the strategy can never leak into the text.</a:t>
            </a:r>
          </a:p>
          <a:p>
            <a:pPr marL="279400" indent="-279400">
              <a:lnSpc>
                <a:spcPts val="3600"/>
              </a:lnSpc>
              <a:spcAft>
                <a:spcPts val="800"/>
              </a:spcAft>
              <a:buSzPct val="100000"/>
              <a:buChar char="▪"/>
            </a:pP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timeout or malformed JSON, a predefined line for that behaviour is sent with the move, so the agent is never silent and never contradicts its own offer.</a:t>
            </a:r>
          </a:p>
          <a:p>
            <a:pPr marL="0" indent="0">
              <a:lnSpc>
                <a:spcPts val="36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for a small model:</a:t>
            </a:r>
          </a:p>
          <a:p>
            <a:pPr marL="279400" indent="-279400">
              <a:lnSpc>
                <a:spcPts val="3600"/>
              </a:lnSpc>
              <a:spcAft>
                <a:spcPts val="800"/>
              </a:spcAft>
              <a:buSzPct val="100000"/>
              <a:buChar char="▪"/>
            </a:pP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</a:t>
            </a:r>
            <a:r>
              <a:rPr lang="he-IL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offer terms go last, after the history, since the model weights the final text most.</a:t>
            </a:r>
          </a:p>
          <a:p>
            <a:pPr marL="279400" indent="-279400">
              <a:lnSpc>
                <a:spcPts val="3600"/>
              </a:lnSpc>
              <a:spcAft>
                <a:spcPts val="800"/>
              </a:spcAft>
              <a:buSzPct val="100000"/>
              <a:buChar char="▪"/>
            </a:pP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reproduction </a:t>
            </a:r>
            <a:r>
              <a:rPr lang="he-IL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copies phrasing verbatim, so it is handed a ready-made “You get …” line rather than left to rephrase the offer.</a:t>
            </a:r>
          </a:p>
          <a:p>
            <a:pPr marL="279400" indent="-279400">
              <a:lnSpc>
                <a:spcPts val="3600"/>
              </a:lnSpc>
              <a:spcAft>
                <a:spcPts val="800"/>
              </a:spcAft>
              <a:buSzPct val="100000"/>
              <a:buChar char="▪"/>
            </a:pP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point, once </a:t>
            </a:r>
            <a:r>
              <a:rPr lang="he-IL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on the same point make it follow neither; temperature 0.7 and a higher token cap removed the last paraphrasing and truncation.</a:t>
            </a:r>
          </a:p>
        </p:txBody>
      </p:sp>
      <p:sp>
        <p:nvSpPr>
          <p:cNvPr id="60" name="Shape 55"/>
          <p:cNvSpPr/>
          <p:nvPr/>
        </p:nvSpPr>
        <p:spPr>
          <a:xfrm>
            <a:off x="16916400" y="32700214"/>
            <a:ext cx="14904720" cy="6268720"/>
          </a:xfrm>
          <a:prstGeom prst="rect">
            <a:avLst/>
          </a:prstGeom>
          <a:solidFill>
            <a:srgbClr val="FCFDFE"/>
          </a:solidFill>
          <a:ln w="19050">
            <a:solidFill>
              <a:srgbClr val="C9CDD4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17373600" y="32919670"/>
            <a:ext cx="1399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Conclusions &amp; Key Takeaways</a:t>
            </a:r>
            <a:endParaRPr lang="en-US" sz="5000" dirty="0"/>
          </a:p>
        </p:txBody>
      </p:sp>
      <p:sp>
        <p:nvSpPr>
          <p:cNvPr id="62" name="Shape 57"/>
          <p:cNvSpPr/>
          <p:nvPr/>
        </p:nvSpPr>
        <p:spPr>
          <a:xfrm>
            <a:off x="17373600" y="34007806"/>
            <a:ext cx="777240" cy="7772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17373600" y="3400780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3000" dirty="0"/>
          </a:p>
        </p:txBody>
      </p:sp>
      <p:sp>
        <p:nvSpPr>
          <p:cNvPr id="64" name="Text 59"/>
          <p:cNvSpPr/>
          <p:nvPr/>
        </p:nvSpPr>
        <p:spPr>
          <a:xfrm>
            <a:off x="18562320" y="34181542"/>
            <a:ext cx="12801600" cy="1205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16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the numerical core from the LLM makes any LLM failure a presentation problem, never a strategy problem.</a:t>
            </a:r>
            <a:endParaRPr lang="en-US" sz="2800" dirty="0"/>
          </a:p>
        </p:txBody>
      </p:sp>
      <p:sp>
        <p:nvSpPr>
          <p:cNvPr id="65" name="Shape 60"/>
          <p:cNvSpPr/>
          <p:nvPr/>
        </p:nvSpPr>
        <p:spPr>
          <a:xfrm>
            <a:off x="17373600" y="35186366"/>
            <a:ext cx="777240" cy="7772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17373600" y="3518636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3000" dirty="0"/>
          </a:p>
        </p:txBody>
      </p:sp>
      <p:sp>
        <p:nvSpPr>
          <p:cNvPr id="67" name="Text 62"/>
          <p:cNvSpPr/>
          <p:nvPr/>
        </p:nvSpPr>
        <p:spPr>
          <a:xfrm>
            <a:off x="18562320" y="35360102"/>
            <a:ext cx="12801600" cy="1205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16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 beat one curve in a ~10-round human budget: anchor visibly, then settle.</a:t>
            </a:r>
            <a:endParaRPr lang="en-US" sz="2800" dirty="0"/>
          </a:p>
        </p:txBody>
      </p:sp>
      <p:sp>
        <p:nvSpPr>
          <p:cNvPr id="68" name="Shape 63"/>
          <p:cNvSpPr/>
          <p:nvPr/>
        </p:nvSpPr>
        <p:spPr>
          <a:xfrm>
            <a:off x="17373600" y="36364926"/>
            <a:ext cx="777240" cy="7772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17373600" y="3636492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3000" dirty="0"/>
          </a:p>
        </p:txBody>
      </p:sp>
      <p:sp>
        <p:nvSpPr>
          <p:cNvPr id="70" name="Text 65"/>
          <p:cNvSpPr/>
          <p:nvPr/>
        </p:nvSpPr>
        <p:spPr>
          <a:xfrm>
            <a:off x="18562320" y="36538662"/>
            <a:ext cx="12801600" cy="1205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16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short, human-paced negotiation prompt engineering carries the presentation: a modular, order-controlled prompt keeps the small model on-message.</a:t>
            </a:r>
            <a:endParaRPr lang="en-US" sz="2800" dirty="0"/>
          </a:p>
        </p:txBody>
      </p:sp>
      <p:sp>
        <p:nvSpPr>
          <p:cNvPr id="71" name="Shape 66"/>
          <p:cNvSpPr/>
          <p:nvPr/>
        </p:nvSpPr>
        <p:spPr>
          <a:xfrm>
            <a:off x="17373600" y="37543486"/>
            <a:ext cx="777240" cy="7772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2" name="Text 67"/>
          <p:cNvSpPr/>
          <p:nvPr/>
        </p:nvSpPr>
        <p:spPr>
          <a:xfrm>
            <a:off x="17373600" y="3754348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3000" dirty="0"/>
          </a:p>
        </p:txBody>
      </p:sp>
      <p:sp>
        <p:nvSpPr>
          <p:cNvPr id="73" name="Text 68"/>
          <p:cNvSpPr/>
          <p:nvPr/>
        </p:nvSpPr>
        <p:spPr>
          <a:xfrm>
            <a:off x="18562320" y="37717222"/>
            <a:ext cx="12801600" cy="1205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16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and tunable beats elaborate: two phases, one model switch, one no-repeat cap.</a:t>
            </a:r>
            <a:endParaRPr lang="en-US" sz="2800" dirty="0"/>
          </a:p>
        </p:txBody>
      </p:sp>
      <p:sp>
        <p:nvSpPr>
          <p:cNvPr id="74" name="Shape 69"/>
          <p:cNvSpPr/>
          <p:nvPr/>
        </p:nvSpPr>
        <p:spPr>
          <a:xfrm>
            <a:off x="16916400" y="39558976"/>
            <a:ext cx="14904720" cy="3417824"/>
          </a:xfrm>
          <a:prstGeom prst="rect">
            <a:avLst/>
          </a:prstGeom>
          <a:solidFill>
            <a:srgbClr val="FFFFFF"/>
          </a:solidFill>
          <a:ln w="19050">
            <a:solidFill>
              <a:srgbClr val="C9CDD4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17373600" y="39778432"/>
            <a:ext cx="1399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 &amp; Notes</a:t>
            </a:r>
            <a:endParaRPr lang="en-US" sz="3800" dirty="0"/>
          </a:p>
        </p:txBody>
      </p:sp>
      <p:sp>
        <p:nvSpPr>
          <p:cNvPr id="76" name="Text 71"/>
          <p:cNvSpPr/>
          <p:nvPr/>
        </p:nvSpPr>
        <p:spPr>
          <a:xfrm>
            <a:off x="17373600" y="40692832"/>
            <a:ext cx="13990320" cy="2210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ANAC 2026 Competition, anac.cs.brown.edu.   [2] Mohammad, Aydogan &amp; Hadfi. ANAC 2026 HAN League, IJCAI 2026.   [3] Takamatsu Family. Shochan </a:t>
            </a:r>
            <a:r>
              <a:rPr lang="he-IL" sz="2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winner, ANAC 2024 ANL.   [4] Hindriks &amp; Tykhonov. Opponent Modelling Using Bayesian Learning, AAMAS 2008.   [5] ChargingBoul, ANAC 2022 ANL runner-up, arXiv:2512.06595.
</a:t>
            </a:r>
            <a:r>
              <a:rPr lang="en-US" sz="23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declares no funding source or acknowledgments.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מותאם אישית</PresentationFormat>
  <Paragraphs>0</Paragraphs>
  <Slides>1</Slides>
  <Notes>1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2" baseType="lpstr">
      <vt:lpstr>Office Theme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omer shani</cp:lastModifiedBy>
  <cp:revision>4</cp:revision>
  <dcterms:created xsi:type="dcterms:W3CDTF">2026-07-25T22:12:03Z</dcterms:created>
  <dcterms:modified xsi:type="dcterms:W3CDTF">2026-07-26T08:16:05Z</dcterms:modified>
</cp:coreProperties>
</file>