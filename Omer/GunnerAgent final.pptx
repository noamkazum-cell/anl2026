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 /><Relationship Id="rId2" Type="http://schemas.openxmlformats.org/package/2006/relationships/metadata/core-properties" Target="docProps/core.xml" /><Relationship Id="rId1" Type="http://schemas.openxmlformats.org/officeDocument/2006/relationships/officeDocument" Target="ppt/presentation.xml" 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6"/>
  </p:notesMasterIdLst>
  <p:sldIdLst>
    <p:sldId id="256" r:id="rId2"/>
    <p:sldId id="257" r:id="rId3"/>
    <p:sldId id="258" r:id="rId4"/>
    <p:sldId id="259" r:id="rId5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 /><Relationship Id="rId3" Type="http://schemas.openxmlformats.org/officeDocument/2006/relationships/slide" Target="slides/slide2.xml" /><Relationship Id="rId7" Type="http://schemas.openxmlformats.org/officeDocument/2006/relationships/presProps" Target="presProps.xml" /><Relationship Id="rId2" Type="http://schemas.openxmlformats.org/officeDocument/2006/relationships/slide" Target="slides/slide1.xml" /><Relationship Id="rId1" Type="http://schemas.openxmlformats.org/officeDocument/2006/relationships/slideMaster" Target="slideMasters/slideMaster1.xml" /><Relationship Id="rId6" Type="http://schemas.openxmlformats.org/officeDocument/2006/relationships/notesMaster" Target="notesMasters/notesMaster1.xml" /><Relationship Id="rId5" Type="http://schemas.openxmlformats.org/officeDocument/2006/relationships/slide" Target="slides/slide4.xml" /><Relationship Id="rId10" Type="http://schemas.openxmlformats.org/officeDocument/2006/relationships/tableStyles" Target="tableStyles.xml" /><Relationship Id="rId4" Type="http://schemas.openxmlformats.org/officeDocument/2006/relationships/slide" Target="slides/slide3.xml" /><Relationship Id="rId9" Type="http://schemas.openxmlformats.org/officeDocument/2006/relationships/theme" Target="theme/theme1.xml" 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 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6111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6111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4F9F740-2E68-0942-ACFA-A95EAE9776BE}" type="datetimeFigureOut">
              <a:rPr lang="en-US" smtClean="0"/>
              <a:t>6/17/2026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-228600" y="1524000"/>
            <a:ext cx="7315200" cy="41148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5867400"/>
            <a:ext cx="5486400" cy="48006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11580813"/>
            <a:ext cx="2971800" cy="6111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11580813"/>
            <a:ext cx="2971800" cy="6111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9B212B9-59F5-A74A-83D4-58DE4C9C14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063847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 /><Relationship Id="rId1" Type="http://schemas.openxmlformats.org/officeDocument/2006/relationships/notesMaster" Target="../notesMasters/notesMaster1.xml" 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 /><Relationship Id="rId1" Type="http://schemas.openxmlformats.org/officeDocument/2006/relationships/notesMaster" Target="../notesMasters/notesMaster1.xml" 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 /><Relationship Id="rId1" Type="http://schemas.openxmlformats.org/officeDocument/2006/relationships/notesMaster" Target="../notesMasters/notesMaster1.xml" 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 /><Relationship Id="rId1" Type="http://schemas.openxmlformats.org/officeDocument/2006/relationships/notesMaster" Target="../notesMasters/notesMaster1.xml" 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 /><Relationship Id="rId1" Type="http://schemas.openxmlformats.org/officeDocument/2006/relationships/slideLayout" Target="../slideLayouts/slideLayout1.xml" 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 /><Relationship Id="rId1" Type="http://schemas.openxmlformats.org/officeDocument/2006/relationships/slideLayout" Target="../slideLayouts/slideLayout1.xml" 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 /><Relationship Id="rId1" Type="http://schemas.openxmlformats.org/officeDocument/2006/relationships/slideLayout" Target="../slideLayouts/slideLayout1.xml" 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 /><Relationship Id="rId1" Type="http://schemas.openxmlformats.org/officeDocument/2006/relationships/slideLayout" Target="../slideLayouts/slideLayout1.xml" 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 /><Relationship Id="rId1" Type="http://schemas.openxmlformats.org/officeDocument/2006/relationships/slideLayout" Target="../slideLayouts/slideLayout1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8813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HAN 2026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1188720"/>
            <a:ext cx="1088136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spcAft>
                <a:spcPts val="600"/>
              </a:spcAft>
              <a:buNone/>
            </a:pPr>
            <a:r>
              <a:rPr lang="en-US" sz="17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is HAN?
</a:t>
            </a:r>
            <a:endParaRPr lang="en-US" sz="17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Human–Agent Negotiation League: our agent negotiates against a real human partner</a:t>
            </a:r>
            <a:endParaRPr lang="en-US" sz="17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Bilateral negotiation under the Alternating Offers Protocol - each move is an offer, plus a free-text message</a:t>
            </a:r>
            <a:endParaRPr lang="en-US" sz="1700" dirty="0"/>
          </a:p>
        </p:txBody>
      </p:sp>
      <p:sp>
        <p:nvSpPr>
          <p:cNvPr id="4" name="Text 2"/>
          <p:cNvSpPr/>
          <p:nvPr/>
        </p:nvSpPr>
        <p:spPr>
          <a:xfrm>
            <a:off x="640080" y="2697480"/>
            <a:ext cx="1088136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spcAft>
                <a:spcPts val="600"/>
              </a:spcAft>
              <a:buNone/>
            </a:pPr>
            <a:r>
              <a:rPr lang="en-US" sz="17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Evaluation
</a:t>
            </a:r>
            <a:endParaRPr lang="en-US" sz="17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utility the agent achieves in the deal</a:t>
            </a:r>
            <a:endParaRPr lang="en-US" sz="17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human partner's post-negotiation perception of the agent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640080" y="4206240"/>
            <a:ext cx="10881360" cy="2194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spcAft>
                <a:spcPts val="600"/>
              </a:spcAft>
              <a:buNone/>
            </a:pPr>
            <a:r>
              <a:rPr lang="en-US" sz="17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hard constraints
</a:t>
            </a:r>
            <a:endParaRPr lang="en-US" sz="17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agent must emulate a human - in content, in reactions, and in response time</a:t>
            </a:r>
            <a:endParaRPr lang="en-US" sz="17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Very few rounds: a 5-minute clock = only ~10 offers per side - human-paced, far fewer than agent-vs-agent leagues</a:t>
            </a:r>
            <a:endParaRPr lang="en-US" sz="17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opponent utility: unlike ANL, we are NOT given the partner's </a:t>
            </a:r>
            <a:r>
              <a:rPr lang="en-US" sz="150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utility function - </a:t>
            </a: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their offer history (~10 offers to learn from)</a:t>
            </a:r>
            <a:endParaRPr lang="en-US" sz="17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 the agent must extract value AND stay credible to a human, with almost no data on what the partner actually wants</a:t>
            </a:r>
            <a:endParaRPr lang="en-US" sz="17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8813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 err="1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GunnerAgent</a:t>
            </a:r>
            <a:r>
              <a:rPr lang="en-US" sz="30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- Architecture &amp; Numerical Core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1097280"/>
            <a:ext cx="1088136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spcAft>
                <a:spcPts val="600"/>
              </a:spcAft>
              <a:buNone/>
            </a:pPr>
            <a:r>
              <a:rPr lang="en-US" sz="17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Two separated layers (built on Shochan, ANAC 2024 ANL winner)
</a:t>
            </a:r>
            <a:endParaRPr lang="en-US" sz="1700" dirty="0"/>
          </a:p>
          <a:p>
            <a:pPr marL="203200" indent="-2032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Numerical core (GunnerCore): makes every accept/reject decision and every offer</a:t>
            </a:r>
            <a:endParaRPr lang="en-US" sz="1700" dirty="0"/>
          </a:p>
          <a:p>
            <a:pPr marL="203200" indent="-2032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takes Shochan's aspiration formula as a starting point and extends it for HAN</a:t>
            </a:r>
            <a:endParaRPr lang="en-US" sz="1700" dirty="0"/>
          </a:p>
          <a:p>
            <a:pPr marL="203200" indent="-2032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wrapper: only writes the message that accompanies the move - never changes the offer or the decision</a:t>
            </a:r>
            <a:endParaRPr lang="en-US" sz="1700" dirty="0"/>
          </a:p>
          <a:p>
            <a:pPr marL="406400" lvl="1" indent="-203200">
              <a:spcAft>
                <a:spcPts val="400"/>
              </a:spcAft>
              <a:buSzPct val="100000"/>
              <a:buChar char="–"/>
            </a:pPr>
            <a:r>
              <a:rPr lang="en-US" sz="12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split? An LLM timeout, malformed JSON, or random output can never cause a bad numerical move.</a:t>
            </a:r>
            <a:endParaRPr lang="en-US" sz="1700" dirty="0"/>
          </a:p>
        </p:txBody>
      </p:sp>
      <p:sp>
        <p:nvSpPr>
          <p:cNvPr id="4" name="Text 2"/>
          <p:cNvSpPr/>
          <p:nvPr/>
        </p:nvSpPr>
        <p:spPr>
          <a:xfrm>
            <a:off x="640080" y="2834640"/>
            <a:ext cx="10881360" cy="1783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spcAft>
                <a:spcPts val="600"/>
              </a:spcAft>
              <a:buNone/>
            </a:pPr>
            <a:r>
              <a:rPr lang="en-US" sz="17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Two-phase concession curve (the key idea)
</a:t>
            </a:r>
            <a:endParaRPr lang="en-US" sz="1700" dirty="0"/>
          </a:p>
          <a:p>
            <a:pPr marL="203200" indent="-2032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single classic curve fits ~10 rounds: Boulware is robotic, Conceder gives value away, linear is fully predictable</a:t>
            </a:r>
            <a:endParaRPr lang="en-US" sz="1700" dirty="0"/>
          </a:p>
          <a:p>
            <a:pPr marL="203200" indent="-2032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1 - Anchor (t &lt; 0.4): linear descent 1.0 → fixed 0.7 - real movement each round, almost no value given up</a:t>
            </a:r>
            <a:endParaRPr lang="en-US" sz="1700" dirty="0"/>
          </a:p>
          <a:p>
            <a:pPr marL="203200" indent="-2032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2 - Settle: Boulware aspiration curve 0.7 → max(1.5×rv, 0.3) - holds firm, then concedes sharply so time pressure closes the deal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640080" y="4754880"/>
            <a:ext cx="1088136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spcAft>
                <a:spcPts val="600"/>
              </a:spcAft>
              <a:buNone/>
            </a:pPr>
            <a:r>
              <a:rPr lang="en-US" sz="17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Propose / respond loop - one threshold, two uses
</a:t>
            </a:r>
            <a:endParaRPr lang="en-US" sz="1700" dirty="0"/>
          </a:p>
          <a:p>
            <a:pPr marL="203200" indent="-2032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Acceptance: accept the partner's offer if its utility to us meets the current threshold; otherwise reject and counter</a:t>
            </a:r>
            <a:endParaRPr lang="en-US" sz="1700" dirty="0"/>
          </a:p>
          <a:p>
            <a:pPr marL="203200" indent="-2032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Proposal: among outcomes above the threshold, take the </a:t>
            </a:r>
            <a:r>
              <a:rPr lang="en-US" sz="1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Pareto frontier</a:t>
            </a: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rank by predicted opponent utility, offer the best not over-offered</a:t>
            </a:r>
            <a:endParaRPr lang="en-US" sz="17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8813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 err="1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GunnerAgent</a:t>
            </a:r>
            <a:r>
              <a:rPr lang="en-US" sz="30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- Modelling the Partner (no utility access)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1143000"/>
            <a:ext cx="1088136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spcAft>
                <a:spcPts val="600"/>
              </a:spcAft>
              <a:buNone/>
            </a:pPr>
            <a:r>
              <a:rPr lang="en-US" sz="17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problem
</a:t>
            </a:r>
            <a:endParaRPr lang="en-US" sz="17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partner's utility function is hidden - we estimate it from their offer history alone (~10 offers).</a:t>
            </a:r>
            <a:endParaRPr lang="en-US" sz="17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estimate is used only to rank candidate offers in the propose loop (Pareto sort) - it never affects accept/reject</a:t>
            </a:r>
            <a:endParaRPr lang="en-US" sz="1700" dirty="0"/>
          </a:p>
        </p:txBody>
      </p:sp>
      <p:sp>
        <p:nvSpPr>
          <p:cNvPr id="4" name="Text 2"/>
          <p:cNvSpPr/>
          <p:nvPr/>
        </p:nvSpPr>
        <p:spPr>
          <a:xfrm>
            <a:off x="640080" y="2697480"/>
            <a:ext cx="10881360" cy="1508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spcAft>
                <a:spcPts val="600"/>
              </a:spcAft>
              <a:buNone/>
            </a:pPr>
            <a:r>
              <a:rPr lang="en-US" sz="17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classic frequency models fail
</a:t>
            </a:r>
            <a:endParaRPr lang="en-US" sz="17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Frequency models assume "the values offered most often are the preferred ones" - true over hundreds of rounds, false here</a:t>
            </a:r>
            <a:endParaRPr lang="en-US" sz="17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partner sits near their preferred outcome only for the first few turns, then concedes - so the table fills with non-preferred values and degrades to a zero-sum proxy that uses no partner information at all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640080" y="4389120"/>
            <a:ext cx="10881360" cy="2103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spcAft>
                <a:spcPts val="600"/>
              </a:spcAft>
              <a:buNone/>
            </a:pPr>
            <a:r>
              <a:rPr lang="en-US" sz="17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Our approach — two modes, chosen by the number of issues
</a:t>
            </a:r>
            <a:endParaRPr lang="en-US" sz="17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partner's first offer is the only trustworthy signal of their preferences - everything after it is concession. (the split needs no scenario metadata, only the issue count, which is always known)</a:t>
            </a:r>
            <a:endParaRPr lang="en-US" sz="17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≤2 issues (buyer–seller): match candidates against the first offer - it reveals the preferred value on every issue (e.g. a seller opening "high price, high quantity")</a:t>
            </a:r>
            <a:endParaRPr lang="en-US" sz="17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≥3 issues (resource distribution): the first offer ("I take everything") reveals nothing about which issues matter - so also weight each issue by how stable the partner keeps it across rounds (stable = important, swapped = less).</a:t>
            </a:r>
            <a:endParaRPr lang="en-US" sz="17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8813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 err="1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GunnerAgent</a:t>
            </a:r>
            <a:r>
              <a:rPr lang="en-US" sz="30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- The LLM Message Layer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1143000"/>
            <a:ext cx="10881360" cy="1600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spcAft>
                <a:spcPts val="600"/>
              </a:spcAft>
              <a:buNone/>
            </a:pPr>
            <a:r>
              <a:rPr lang="en-US" sz="17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Role
</a:t>
            </a:r>
            <a:endParaRPr lang="en-US" sz="17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core fixes the move; the LLM only writes the message that goes with it - it never selects the offer or decides whether to accept</a:t>
            </a:r>
            <a:endParaRPr lang="en-US" sz="17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move maps to a label (opening, concession, holding firm, accepting…) with a fixed tone, so the message matches the move</a:t>
            </a:r>
            <a:endParaRPr lang="en-US" sz="17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never sees our utilities, reservation value, or issue priorities - so the strategy can't leak into the text</a:t>
            </a:r>
            <a:endParaRPr lang="en-US" sz="1700" dirty="0"/>
          </a:p>
        </p:txBody>
      </p:sp>
      <p:sp>
        <p:nvSpPr>
          <p:cNvPr id="4" name="Text 2"/>
          <p:cNvSpPr/>
          <p:nvPr/>
        </p:nvSpPr>
        <p:spPr>
          <a:xfrm>
            <a:off x="640080" y="2926080"/>
            <a:ext cx="10881360" cy="2514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spcAft>
                <a:spcPts val="600"/>
              </a:spcAft>
              <a:buNone/>
            </a:pPr>
            <a:r>
              <a:rPr lang="en-US" sz="17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one big prompt to modular components
</a:t>
            </a:r>
            <a:endParaRPr lang="en-US" sz="17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big prompt block – not stable, random, hard to maintain</a:t>
            </a:r>
            <a:endParaRPr lang="en-US" sz="17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   Instructions interfered: editing one (e.g. how to phrase a repeat offer) broke the others.</a:t>
            </a:r>
            <a:endParaRPr lang="en-US" sz="17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   Scenario detection: confused and mixing up scenarios </a:t>
            </a:r>
            <a:endParaRPr lang="en-US" sz="17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Fix: build the prompt from small functions, one per concern (rules, move brief, partner's last action, offer line, output format)</a:t>
            </a:r>
            <a:endParaRPr lang="en-US" sz="17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function is independent → full control over content and order</a:t>
            </a:r>
            <a:endParaRPr lang="en-US" sz="17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one can be revised, reordered, or removed without touching the rest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640080" y="5623560"/>
            <a:ext cx="1088136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spcAft>
                <a:spcPts val="600"/>
              </a:spcAft>
              <a:buNone/>
            </a:pPr>
            <a:r>
              <a:rPr lang="en-US" sz="17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Reliability
</a:t>
            </a:r>
            <a:endParaRPr lang="en-US" sz="17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Fallback: on timeout or malformed output, a predefined message for that move is sent - the agent is never silent and never contradicts its own offer.</a:t>
            </a:r>
            <a:endParaRPr lang="en-US" sz="1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Widescreen</PresentationFormat>
  <Paragraphs>0</Paragraphs>
  <Slides>4</Slides>
  <Notes>4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5" baseType="lpstr">
      <vt:lpstr>Office Theme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omer shani</cp:lastModifiedBy>
  <cp:revision>4</cp:revision>
  <dcterms:created xsi:type="dcterms:W3CDTF">2026-06-17T15:23:50Z</dcterms:created>
  <dcterms:modified xsi:type="dcterms:W3CDTF">2026-06-17T15:55:36Z</dcterms:modified>
</cp:coreProperties>
</file>